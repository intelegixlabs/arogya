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7"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Arogya focuses on continuity of care across visits. Its central idea is to make unfinished steps visible so care teams can follow through. This is an idea-submission pitch, with a prototype foundation and a proposed supervised pilot. Cover artwork is an AI-generated editorial illustration, not a photograph of a real patient or clinic. Built-in image generation prompt: refined gouache illustration of an Indian community health worker, clinician and adult woman patient reviewing a plain paper folder in an outpatient clinic, deep teal background with quiet negative space on the left.</a:t>
            </a:r>
          </a:p>
          <a:p>
            <a:endParaRPr/>
          </a:p>
          <a:p>
            <a:r>
              <a:t>Project sources: README.md; user-provided problem and solution statements.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is fragmented follow-through. A completed procedure does not guarantee that a report reaches the clinician, a referral becomes a specialist visit, or a patient returns. Arogya is intended for clinicians, community health workers and care coordinators. These are problem scenarios, not measured project outcomes or published prevalence estimates.</a:t>
            </a:r>
          </a:p>
          <a:p>
            <a:endParaRPr/>
          </a:p>
          <a:p>
            <a:r>
              <a:t>Project sources: README.md, The Problem; HACKATHON_SCRIPT.md, problem narrative.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prototype computes care gaps from explicit rules. Current examples include overdue follow-ups, pathology processing beyond seven days, explicitly incomplete referrals, and investigations pending beyond seven days. The response column illustrates the operational next step; it is not an automated clinical recommendation. Human staff perform outreach and update the records.</a:t>
            </a:r>
          </a:p>
          <a:p>
            <a:endParaRPr/>
          </a:p>
          <a:p>
            <a:r>
              <a:t>Project sources: Arogya/main.py: care_gaps(), dashboard(), get_patient(); Arogya_UI/src/components/Dashboard.jsx.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jury through one care gap rather than listing every feature. The example uses the existing biopsy/report workflow. Configurable clinical timelines are a future pilot requirement; the current prototype uses fixed rules, including a seven-day pathology rule. Report retrieval and patient contact remain human actions. The proposed outcome is faster follow-through, which needs measurement in a pilot.</a:t>
            </a:r>
          </a:p>
          <a:p>
            <a:endParaRPr/>
          </a:p>
          <a:p>
            <a:r>
              <a:t>Project sources: Arogya/main.py: compute_journey(), care_gaps(), upload_report(); Arogya_UI/src/components/PatientProfile.jsx.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Differentiate on care coordination: a population worklist links to longitudinal patient context. Avoid claiming superiority over a specific competitor without evidence. The assistant currently uses keyword matching, not an LLM. The 3D atlas is educational procedural anatomy. The Prediction Lab uses public research datasets and must not be presented as clinically validated. Global feature importances describe model behavior, not an explanation of an individual patient’s outcome.</a:t>
            </a:r>
          </a:p>
          <a:p>
            <a:endParaRPr/>
          </a:p>
          <a:p>
            <a:r>
              <a:t>Project sources: Arogya/main.py: ai_assistant(), registry(), compute_journey(); Arogya/ml.py; Arogya_UI/src/components/CancerAtlas.jsx.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React and Vite implement the interface. FastAPI exposes the clinical APIs and deterministic workflow logic. PostgreSQL currently stores JSONB collections. Google Identity verifies sign-in. Three scikit-learn Gradient Boosting models use public breast, lung and cervical datasets with held-out evaluation. Docker and Nginx provide packaging for planned Cloud Run deployment; deployment success is not claimed. Reliable multi-instance writes, protected documents and production authorization remain release criteria.</a:t>
            </a:r>
          </a:p>
          <a:p>
            <a:endParaRPr/>
          </a:p>
          <a:p>
            <a:r>
              <a:t>Project sources: Arogya/requirements.txt; Arogya/database.py; Arogya/ml.py; Arogya/Dockerfile; Arogya_UI/package.json; Arogya_UI/Dockerfile; Arogya_UI/nginx.conf.template.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52 profiles and nine registries describe synthetic demo data generated by seed.py. They are not patient adoption, clinical validation or pilot traction. The source includes registration, clinical record forms, uploads, journeys and a care-gap dashboard. Production hardening and supervised workflow validation are planned work, not completed claims. Future ownership and escalation functionality should follow care-team feedback.</a:t>
            </a:r>
          </a:p>
          <a:p>
            <a:endParaRPr/>
          </a:p>
          <a:p>
            <a:r>
              <a:t>Project sources: Arogya/seed.py: build_seed(), CONDITIONS; Arogya_UI/src/components/PatientProfile.jsx; project code review in this conversation.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proposed pilot, not an existing partnership. Focus on a narrow cancer-care pathway so the team can test workflow usability and data quality before expansion. Establish baseline measures before selecting targets. Compare time to review, follow-up resolution, referral completion and staff worklist preparation effort. Record denominators and compare equivalent periods. No impact percentage or clinical outcome claim is made. The ask is access to a care team for supervised co-design and evaluation.</a:t>
            </a:r>
          </a:p>
          <a:p>
            <a:endParaRPr/>
          </a:p>
          <a:p>
            <a:r>
              <a:t>Project sources: Proposed evaluation plan authored for this idea submission; no measured outcomes or existing clinical partners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FA91D-AFB2-6235-B8C9-DB987CE21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4B9CA-6117-06EC-9211-BF65886BA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13E703-3E5F-F2CC-A71F-ABC872575CB4}"/>
              </a:ext>
            </a:extLst>
          </p:cNvPr>
          <p:cNvSpPr>
            <a:spLocks noGrp="1"/>
          </p:cNvSpPr>
          <p:nvPr>
            <p:ph type="body" idx="1"/>
          </p:nvPr>
        </p:nvSpPr>
        <p:spPr/>
        <p:txBody>
          <a:bodyPr/>
          <a:lstStyle/>
          <a:p>
            <a:r>
              <a:t>The 52 profiles and nine registries describe synthetic demo data generated by seed.py. They are not patient adoption, clinical validation or pilot traction. The source includes registration, clinical record forms, uploads, journeys and a care-gap dashboard. Production hardening and supervised workflow validation are planned work, not completed claims. Future ownership and escalation functionality should follow care-team feedback.</a:t>
            </a:r>
          </a:p>
          <a:p>
            <a:endParaRPr/>
          </a:p>
          <a:p>
            <a:r>
              <a:t>Project sources: Arogya/seed.py: build_seed(), CONDITIONS; Arogya_UI/src/components/PatientProfile.jsx; project code review in this conversation.</a:t>
            </a:r>
          </a:p>
        </p:txBody>
      </p:sp>
      <p:sp>
        <p:nvSpPr>
          <p:cNvPr id="4" name="Slide Number Placeholder 3">
            <a:extLst>
              <a:ext uri="{FF2B5EF4-FFF2-40B4-BE49-F238E27FC236}">
                <a16:creationId xmlns:a16="http://schemas.microsoft.com/office/drawing/2014/main" id="{00E1D93F-50FA-15E4-E371-690FE673E5D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03689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C650F-862F-7007-2516-2F9149571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A1AED3-B5E1-95D8-7D2D-6C0BF81C5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327D13-DE00-264E-D9F1-30D8B74B9B84}"/>
              </a:ext>
            </a:extLst>
          </p:cNvPr>
          <p:cNvSpPr>
            <a:spLocks noGrp="1"/>
          </p:cNvSpPr>
          <p:nvPr>
            <p:ph type="body" idx="1"/>
          </p:nvPr>
        </p:nvSpPr>
        <p:spPr/>
        <p:txBody>
          <a:bodyPr/>
          <a:lstStyle/>
          <a:p>
            <a:r>
              <a:t>The 52 profiles and nine registries describe synthetic demo data generated by seed.py. They are not patient adoption, clinical validation or pilot traction. The source includes registration, clinical record forms, uploads, journeys and a care-gap dashboard. Production hardening and supervised workflow validation are planned work, not completed claims. Future ownership and escalation functionality should follow care-team feedback.</a:t>
            </a:r>
          </a:p>
          <a:p>
            <a:endParaRPr/>
          </a:p>
          <a:p>
            <a:r>
              <a:t>Project sources: Arogya/seed.py: build_seed(), CONDITIONS; Arogya_UI/src/components/PatientProfile.jsx; project code review in this conversation.</a:t>
            </a:r>
          </a:p>
        </p:txBody>
      </p:sp>
      <p:sp>
        <p:nvSpPr>
          <p:cNvPr id="4" name="Slide Number Placeholder 3">
            <a:extLst>
              <a:ext uri="{FF2B5EF4-FFF2-40B4-BE49-F238E27FC236}">
                <a16:creationId xmlns:a16="http://schemas.microsoft.com/office/drawing/2014/main" id="{F4FAB13A-ED1F-72CA-F3C0-5D3F1E0F154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0120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0C31B-BCBB-A97D-7E4B-ECF23AAD46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BEE2E-05B1-FAE7-36D3-F9D1EA4EA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2BACF8-A4D3-B985-744D-2952B22D6FD5}"/>
              </a:ext>
            </a:extLst>
          </p:cNvPr>
          <p:cNvSpPr>
            <a:spLocks noGrp="1"/>
          </p:cNvSpPr>
          <p:nvPr>
            <p:ph type="body" idx="1"/>
          </p:nvPr>
        </p:nvSpPr>
        <p:spPr/>
        <p:txBody>
          <a:bodyPr/>
          <a:lstStyle/>
          <a:p>
            <a:r>
              <a:t>The 52 profiles and nine registries describe synthetic demo data generated by seed.py. They are not patient adoption, clinical validation or pilot traction. The source includes registration, clinical record forms, uploads, journeys and a care-gap dashboard. Production hardening and supervised workflow validation are planned work, not completed claims. Future ownership and escalation functionality should follow care-team feedback.</a:t>
            </a:r>
          </a:p>
          <a:p>
            <a:endParaRPr/>
          </a:p>
          <a:p>
            <a:r>
              <a:t>Project sources: Arogya/seed.py: build_seed(), CONDITIONS; Arogya_UI/src/components/PatientProfile.jsx; project code review in this conversation.</a:t>
            </a:r>
          </a:p>
        </p:txBody>
      </p:sp>
      <p:sp>
        <p:nvSpPr>
          <p:cNvPr id="4" name="Slide Number Placeholder 3">
            <a:extLst>
              <a:ext uri="{FF2B5EF4-FFF2-40B4-BE49-F238E27FC236}">
                <a16:creationId xmlns:a16="http://schemas.microsoft.com/office/drawing/2014/main" id="{D2D46360-FA92-27A3-259A-3780B6526A2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79909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3D40"/>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t="27" b="27"/>
          <a:stretch>
            <a:fillRect/>
          </a:stretch>
        </p:blipFill>
        <p:spPr>
          <a:xfrm>
            <a:off x="0" y="0"/>
            <a:ext cx="12192000" cy="6858000"/>
          </a:xfrm>
          <a:prstGeom prst="rect">
            <a:avLst/>
          </a:prstGeom>
        </p:spPr>
      </p:pic>
      <p:sp>
        <p:nvSpPr>
          <p:cNvPr id="2" name="AROGYA">
            <a:extLst>
              <a:ext uri="{FF2B5EF4-FFF2-40B4-BE49-F238E27FC236}">
                <a16:creationId xmlns:a16="http://schemas.microsoft.com/office/drawing/2014/main" id="{DB20227B-A984-4A84-9FA7-D19BB44B7062}"/>
              </a:ext>
            </a:extLst>
          </p:cNvPr>
          <p:cNvSpPr>
            <a:spLocks noGrp="1"/>
          </p:cNvSpPr>
          <p:nvPr/>
        </p:nvSpPr>
        <p:spPr>
          <a:xfrm>
            <a:off x="685800" y="1447800"/>
            <a:ext cx="5429250" cy="1066800"/>
          </a:xfrm>
          <a:prstGeom prst="rect">
            <a:avLst/>
          </a:prstGeom>
          <a:noFill/>
          <a:ln w="0">
            <a:noFill/>
          </a:ln>
        </p:spPr>
        <p:txBody>
          <a:bodyPr lIns="0" tIns="0" rIns="0" bIns="0" anchor="t">
            <a:noAutofit/>
          </a:bodyPr>
          <a:lstStyle/>
          <a:p>
            <a:pPr>
              <a:defRPr sz="6150" b="1">
                <a:solidFill>
                  <a:srgbClr val="F7F5EF"/>
                </a:solidFill>
                <a:latin typeface="Arial"/>
                <a:ea typeface="Arial"/>
                <a:cs typeface="Arial"/>
              </a:defRPr>
            </a:pPr>
            <a:r>
              <a:rPr sz="6150" b="1">
                <a:solidFill>
                  <a:srgbClr val="F7F5EF"/>
                </a:solidFill>
                <a:latin typeface="Arial"/>
                <a:ea typeface="Arial"/>
                <a:cs typeface="Arial"/>
              </a:rPr>
              <a:t>AROGYA</a:t>
            </a:r>
          </a:p>
        </p:txBody>
      </p:sp>
      <p:sp>
        <p:nvSpPr>
          <p:cNvPr id="3" name="Care beyond&#10;the consultation">
            <a:extLst>
              <a:ext uri="{FF2B5EF4-FFF2-40B4-BE49-F238E27FC236}">
                <a16:creationId xmlns:a16="http://schemas.microsoft.com/office/drawing/2014/main" id="{F4D5B703-B374-4252-BB44-58467E2ECA05}"/>
              </a:ext>
            </a:extLst>
          </p:cNvPr>
          <p:cNvSpPr>
            <a:spLocks noGrp="1"/>
          </p:cNvSpPr>
          <p:nvPr/>
        </p:nvSpPr>
        <p:spPr>
          <a:xfrm>
            <a:off x="723900" y="2705100"/>
            <a:ext cx="4552950" cy="1333500"/>
          </a:xfrm>
          <a:prstGeom prst="rect">
            <a:avLst/>
          </a:prstGeom>
          <a:noFill/>
          <a:ln w="0">
            <a:noFill/>
          </a:ln>
        </p:spPr>
        <p:txBody>
          <a:bodyPr lIns="0" tIns="0" rIns="0" bIns="0" anchor="t">
            <a:noAutofit/>
          </a:bodyPr>
          <a:lstStyle/>
          <a:p>
            <a:pPr>
              <a:defRPr sz="3450" b="1">
                <a:solidFill>
                  <a:srgbClr val="BCE2CB"/>
                </a:solidFill>
                <a:latin typeface="Arial"/>
                <a:ea typeface="Arial"/>
                <a:cs typeface="Arial"/>
              </a:defRPr>
            </a:pPr>
            <a:r>
              <a:rPr sz="3450" b="1">
                <a:solidFill>
                  <a:srgbClr val="BCE2CB"/>
                </a:solidFill>
                <a:latin typeface="Arial"/>
                <a:ea typeface="Arial"/>
                <a:cs typeface="Arial"/>
              </a:rPr>
              <a:t>Care beyond</a:t>
            </a:r>
          </a:p>
          <a:p>
            <a:pPr>
              <a:defRPr sz="3450" b="1">
                <a:solidFill>
                  <a:srgbClr val="BCE2CB"/>
                </a:solidFill>
                <a:latin typeface="Arial"/>
                <a:ea typeface="Arial"/>
                <a:cs typeface="Arial"/>
              </a:defRPr>
            </a:pPr>
            <a:r>
              <a:rPr sz="3450" b="1">
                <a:solidFill>
                  <a:srgbClr val="BCE2CB"/>
                </a:solidFill>
                <a:latin typeface="Arial"/>
                <a:ea typeface="Arial"/>
                <a:cs typeface="Arial"/>
              </a:rPr>
              <a:t>the consultation</a:t>
            </a:r>
          </a:p>
        </p:txBody>
      </p:sp>
      <p:sp>
        <p:nvSpPr>
          <p:cNvPr id="4" name="A population health command center&#10;for each patient’s n">
            <a:extLst>
              <a:ext uri="{FF2B5EF4-FFF2-40B4-BE49-F238E27FC236}">
                <a16:creationId xmlns:a16="http://schemas.microsoft.com/office/drawing/2014/main" id="{F538B3C4-600F-4786-AF2E-FB218495B341}"/>
              </a:ext>
            </a:extLst>
          </p:cNvPr>
          <p:cNvSpPr>
            <a:spLocks noGrp="1"/>
          </p:cNvSpPr>
          <p:nvPr/>
        </p:nvSpPr>
        <p:spPr>
          <a:xfrm>
            <a:off x="723900" y="4381500"/>
            <a:ext cx="4333875" cy="952500"/>
          </a:xfrm>
          <a:prstGeom prst="rect">
            <a:avLst/>
          </a:prstGeom>
          <a:noFill/>
          <a:ln w="0">
            <a:noFill/>
          </a:ln>
        </p:spPr>
        <p:txBody>
          <a:bodyPr lIns="0" tIns="0" rIns="0" bIns="0" anchor="t">
            <a:noAutofit/>
          </a:bodyPr>
          <a:lstStyle/>
          <a:p>
            <a:pPr>
              <a:defRPr sz="2025" b="0">
                <a:solidFill>
                  <a:srgbClr val="F7F5EF"/>
                </a:solidFill>
                <a:latin typeface="Arial"/>
                <a:ea typeface="Arial"/>
                <a:cs typeface="Arial"/>
              </a:defRPr>
            </a:pPr>
            <a:r>
              <a:rPr sz="2025" b="0">
                <a:solidFill>
                  <a:srgbClr val="F7F5EF"/>
                </a:solidFill>
                <a:latin typeface="Arial"/>
                <a:ea typeface="Arial"/>
                <a:cs typeface="Arial"/>
              </a:rPr>
              <a:t>A population health command center</a:t>
            </a:r>
          </a:p>
          <a:p>
            <a:pPr>
              <a:defRPr sz="2025" b="0">
                <a:solidFill>
                  <a:srgbClr val="F7F5EF"/>
                </a:solidFill>
                <a:latin typeface="Arial"/>
                <a:ea typeface="Arial"/>
                <a:cs typeface="Arial"/>
              </a:defRPr>
            </a:pPr>
            <a:r>
              <a:rPr sz="2025" b="0">
                <a:solidFill>
                  <a:srgbClr val="F7F5EF"/>
                </a:solidFill>
                <a:latin typeface="Arial"/>
                <a:ea typeface="Arial"/>
                <a:cs typeface="Arial"/>
              </a:rPr>
              <a:t>for each patient’s next step.</a:t>
            </a:r>
          </a:p>
        </p:txBody>
      </p:sp>
      <p:sp>
        <p:nvSpPr>
          <p:cNvPr id="5" name="Idea submission">
            <a:extLst>
              <a:ext uri="{FF2B5EF4-FFF2-40B4-BE49-F238E27FC236}">
                <a16:creationId xmlns:a16="http://schemas.microsoft.com/office/drawing/2014/main" id="{3F395E9A-355E-41EA-9CAC-473A46D7DA6C}"/>
              </a:ext>
            </a:extLst>
          </p:cNvPr>
          <p:cNvSpPr>
            <a:spLocks noGrp="1"/>
          </p:cNvSpPr>
          <p:nvPr/>
        </p:nvSpPr>
        <p:spPr>
          <a:xfrm>
            <a:off x="723900" y="6124575"/>
            <a:ext cx="3619500" cy="285750"/>
          </a:xfrm>
          <a:prstGeom prst="rect">
            <a:avLst/>
          </a:prstGeom>
          <a:noFill/>
          <a:ln w="0">
            <a:noFill/>
          </a:ln>
        </p:spPr>
        <p:txBody>
          <a:bodyPr lIns="0" tIns="0" rIns="0" bIns="0" anchor="t">
            <a:noAutofit/>
          </a:bodyPr>
          <a:lstStyle/>
          <a:p>
            <a:pPr>
              <a:defRPr sz="1500" b="0">
                <a:solidFill>
                  <a:srgbClr val="BCE2CB"/>
                </a:solidFill>
                <a:latin typeface="Arial"/>
                <a:ea typeface="Arial"/>
                <a:cs typeface="Arial"/>
              </a:defRPr>
            </a:pPr>
            <a:r>
              <a:rPr sz="1500" b="0">
                <a:solidFill>
                  <a:srgbClr val="BCE2CB"/>
                </a:solidFill>
                <a:latin typeface="Arial"/>
                <a:ea typeface="Arial"/>
                <a:cs typeface="Arial"/>
              </a:rPr>
              <a:t>Idea submission</a:t>
            </a:r>
          </a:p>
        </p:txBody>
      </p:sp>
    </p:spTree>
    <p:extLst>
      <p:ext uri="{BB962C8B-B14F-4D97-AF65-F5344CB8AC3E}">
        <p14:creationId xmlns:p14="http://schemas.microsoft.com/office/powerpoint/2010/main" val="649623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he gaps between visits">
            <a:extLst>
              <a:ext uri="{FF2B5EF4-FFF2-40B4-BE49-F238E27FC236}">
                <a16:creationId xmlns:a16="http://schemas.microsoft.com/office/drawing/2014/main" id="{FE018CCD-FD70-4DB1-9F16-D158EA9F3BE5}"/>
              </a:ext>
            </a:extLst>
          </p:cNvPr>
          <p:cNvSpPr>
            <a:spLocks noGrp="1"/>
          </p:cNvSpPr>
          <p:nvPr/>
        </p:nvSpPr>
        <p:spPr>
          <a:xfrm>
            <a:off x="685800" y="552450"/>
            <a:ext cx="10820400" cy="1009650"/>
          </a:xfrm>
          <a:prstGeom prst="rect">
            <a:avLst/>
          </a:prstGeom>
          <a:noFill/>
          <a:ln w="0">
            <a:noFill/>
          </a:ln>
        </p:spPr>
        <p:txBody>
          <a:bodyPr lIns="0" tIns="0" rIns="0" bIns="0" anchor="t">
            <a:noAutofit/>
          </a:bodyPr>
          <a:lstStyle/>
          <a:p>
            <a:pPr>
              <a:defRPr sz="3600" b="1">
                <a:solidFill>
                  <a:srgbClr val="143D40"/>
                </a:solidFill>
                <a:latin typeface="Arial"/>
                <a:ea typeface="Arial"/>
                <a:cs typeface="Arial"/>
              </a:defRPr>
            </a:pPr>
            <a:r>
              <a:rPr sz="3600" b="1">
                <a:solidFill>
                  <a:srgbClr val="143D40"/>
                </a:solidFill>
                <a:latin typeface="Arial"/>
                <a:ea typeface="Arial"/>
                <a:cs typeface="Arial"/>
              </a:rPr>
              <a:t>The gaps between visits</a:t>
            </a:r>
          </a:p>
        </p:txBody>
      </p:sp>
      <p:sp>
        <p:nvSpPr>
          <p:cNvPr id="2" name="02">
            <a:extLst>
              <a:ext uri="{FF2B5EF4-FFF2-40B4-BE49-F238E27FC236}">
                <a16:creationId xmlns:a16="http://schemas.microsoft.com/office/drawing/2014/main" id="{DED35064-6E50-40B1-8F8A-BA0FC787A2AC}"/>
              </a:ext>
            </a:extLst>
          </p:cNvPr>
          <p:cNvSpPr>
            <a:spLocks noGrp="1"/>
          </p:cNvSpPr>
          <p:nvPr/>
        </p:nvSpPr>
        <p:spPr>
          <a:xfrm>
            <a:off x="10972800" y="6305550"/>
            <a:ext cx="523875" cy="266700"/>
          </a:xfrm>
          <a:prstGeom prst="rect">
            <a:avLst/>
          </a:prstGeom>
          <a:noFill/>
          <a:ln w="0">
            <a:noFill/>
          </a:ln>
        </p:spPr>
        <p:txBody>
          <a:bodyPr lIns="0" tIns="0" rIns="0" bIns="0" anchor="t">
            <a:noAutofit/>
          </a:bodyPr>
          <a:lstStyle/>
          <a:p>
            <a:pPr>
              <a:defRPr sz="1350" b="0">
                <a:solidFill>
                  <a:srgbClr val="526D6C"/>
                </a:solidFill>
                <a:latin typeface="Arial"/>
                <a:ea typeface="Arial"/>
                <a:cs typeface="Arial"/>
              </a:defRPr>
            </a:pPr>
            <a:r>
              <a:rPr sz="1350" b="0">
                <a:solidFill>
                  <a:srgbClr val="526D6C"/>
                </a:solidFill>
                <a:latin typeface="Arial"/>
                <a:ea typeface="Arial"/>
                <a:cs typeface="Arial"/>
              </a:rPr>
              <a:t>02</a:t>
            </a:r>
          </a:p>
        </p:txBody>
      </p:sp>
      <p:sp>
        <p:nvSpPr>
          <p:cNvPr id="3" name="A biopsy is complete.&#10;The next step is still uncertain.">
            <a:extLst>
              <a:ext uri="{FF2B5EF4-FFF2-40B4-BE49-F238E27FC236}">
                <a16:creationId xmlns:a16="http://schemas.microsoft.com/office/drawing/2014/main" id="{0CDED143-BF1A-4F04-B85B-E760327B554C}"/>
              </a:ext>
            </a:extLst>
          </p:cNvPr>
          <p:cNvSpPr>
            <a:spLocks noGrp="1"/>
          </p:cNvSpPr>
          <p:nvPr/>
        </p:nvSpPr>
        <p:spPr>
          <a:xfrm>
            <a:off x="685800" y="1895475"/>
            <a:ext cx="5143500" cy="1714500"/>
          </a:xfrm>
          <a:prstGeom prst="rect">
            <a:avLst/>
          </a:prstGeom>
          <a:noFill/>
          <a:ln w="0">
            <a:noFill/>
          </a:ln>
        </p:spPr>
        <p:txBody>
          <a:bodyPr lIns="0" tIns="0" rIns="0" bIns="0" anchor="t">
            <a:noAutofit/>
          </a:bodyPr>
          <a:lstStyle/>
          <a:p>
            <a:pPr>
              <a:defRPr sz="2925" b="1">
                <a:solidFill>
                  <a:srgbClr val="143D40"/>
                </a:solidFill>
                <a:latin typeface="Arial"/>
                <a:ea typeface="Arial"/>
                <a:cs typeface="Arial"/>
              </a:defRPr>
            </a:pPr>
            <a:r>
              <a:rPr sz="2925" b="1">
                <a:solidFill>
                  <a:srgbClr val="143D40"/>
                </a:solidFill>
                <a:latin typeface="Arial"/>
                <a:ea typeface="Arial"/>
                <a:cs typeface="Arial"/>
              </a:rPr>
              <a:t>A biopsy is complete.</a:t>
            </a:r>
          </a:p>
          <a:p>
            <a:pPr>
              <a:defRPr sz="2925" b="1">
                <a:solidFill>
                  <a:srgbClr val="143D40"/>
                </a:solidFill>
                <a:latin typeface="Arial"/>
                <a:ea typeface="Arial"/>
                <a:cs typeface="Arial"/>
              </a:defRPr>
            </a:pPr>
            <a:r>
              <a:rPr sz="2925" b="1">
                <a:solidFill>
                  <a:srgbClr val="143D40"/>
                </a:solidFill>
                <a:latin typeface="Arial"/>
                <a:ea typeface="Arial"/>
                <a:cs typeface="Arial"/>
              </a:rPr>
              <a:t>The next step is still uncertain.</a:t>
            </a:r>
          </a:p>
        </p:txBody>
      </p:sp>
      <p:sp>
        <p:nvSpPr>
          <p:cNvPr id="4" name="Records sit across hospitals, labs,&#10;referral slips and ">
            <a:extLst>
              <a:ext uri="{FF2B5EF4-FFF2-40B4-BE49-F238E27FC236}">
                <a16:creationId xmlns:a16="http://schemas.microsoft.com/office/drawing/2014/main" id="{620DD76C-F675-44BA-9AE7-04C426915C42}"/>
              </a:ext>
            </a:extLst>
          </p:cNvPr>
          <p:cNvSpPr>
            <a:spLocks noGrp="1"/>
          </p:cNvSpPr>
          <p:nvPr/>
        </p:nvSpPr>
        <p:spPr>
          <a:xfrm>
            <a:off x="685800" y="3990975"/>
            <a:ext cx="4857750" cy="952500"/>
          </a:xfrm>
          <a:prstGeom prst="rect">
            <a:avLst/>
          </a:prstGeom>
          <a:noFill/>
          <a:ln w="0">
            <a:noFill/>
          </a:ln>
        </p:spPr>
        <p:txBody>
          <a:bodyPr lIns="0" tIns="0" rIns="0" bIns="0" anchor="t">
            <a:noAutofit/>
          </a:bodyPr>
          <a:lstStyle/>
          <a:p>
            <a:pPr>
              <a:defRPr sz="2175" b="0">
                <a:solidFill>
                  <a:srgbClr val="526D6C"/>
                </a:solidFill>
                <a:latin typeface="Arial"/>
                <a:ea typeface="Arial"/>
                <a:cs typeface="Arial"/>
              </a:defRPr>
            </a:pPr>
            <a:r>
              <a:rPr sz="2175" b="0">
                <a:solidFill>
                  <a:srgbClr val="526D6C"/>
                </a:solidFill>
                <a:latin typeface="Arial"/>
                <a:ea typeface="Arial"/>
                <a:cs typeface="Arial"/>
              </a:rPr>
              <a:t>Records sit across hospitals, labs,</a:t>
            </a:r>
          </a:p>
          <a:p>
            <a:pPr>
              <a:defRPr sz="2175" b="0">
                <a:solidFill>
                  <a:srgbClr val="526D6C"/>
                </a:solidFill>
                <a:latin typeface="Arial"/>
                <a:ea typeface="Arial"/>
                <a:cs typeface="Arial"/>
              </a:defRPr>
            </a:pPr>
            <a:r>
              <a:rPr sz="2175" b="0">
                <a:solidFill>
                  <a:srgbClr val="526D6C"/>
                </a:solidFill>
                <a:latin typeface="Arial"/>
                <a:ea typeface="Arial"/>
                <a:cs typeface="Arial"/>
              </a:rPr>
              <a:t>referral slips and spreadsheets.</a:t>
            </a:r>
          </a:p>
        </p:txBody>
      </p:sp>
      <p:sp>
        <p:nvSpPr>
          <p:cNvPr id="5" name="Patients and families">
            <a:extLst>
              <a:ext uri="{FF2B5EF4-FFF2-40B4-BE49-F238E27FC236}">
                <a16:creationId xmlns:a16="http://schemas.microsoft.com/office/drawing/2014/main" id="{53C30D10-6D43-4A97-BD48-6110C2B17672}"/>
              </a:ext>
            </a:extLst>
          </p:cNvPr>
          <p:cNvSpPr>
            <a:spLocks noGrp="1"/>
          </p:cNvSpPr>
          <p:nvPr/>
        </p:nvSpPr>
        <p:spPr>
          <a:xfrm>
            <a:off x="6715125" y="1933575"/>
            <a:ext cx="4667250" cy="400050"/>
          </a:xfrm>
          <a:prstGeom prst="rect">
            <a:avLst/>
          </a:prstGeom>
          <a:noFill/>
          <a:ln w="0">
            <a:noFill/>
          </a:ln>
        </p:spPr>
        <p:txBody>
          <a:bodyPr lIns="0" tIns="0" rIns="0" bIns="0" anchor="t">
            <a:noAutofit/>
          </a:bodyPr>
          <a:lstStyle/>
          <a:p>
            <a:pPr>
              <a:defRPr sz="2175" b="1">
                <a:solidFill>
                  <a:srgbClr val="1D716A"/>
                </a:solidFill>
                <a:latin typeface="Arial"/>
                <a:ea typeface="Arial"/>
                <a:cs typeface="Arial"/>
              </a:defRPr>
            </a:pPr>
            <a:r>
              <a:rPr sz="2175" b="1">
                <a:solidFill>
                  <a:srgbClr val="1D716A"/>
                </a:solidFill>
                <a:latin typeface="Arial"/>
                <a:ea typeface="Arial"/>
                <a:cs typeface="Arial"/>
              </a:rPr>
              <a:t>Patients and families</a:t>
            </a:r>
          </a:p>
        </p:txBody>
      </p:sp>
      <p:sp>
        <p:nvSpPr>
          <p:cNvPr id="6" name="Repeat travel and uncertainty&#10;when a report or referral">
            <a:extLst>
              <a:ext uri="{FF2B5EF4-FFF2-40B4-BE49-F238E27FC236}">
                <a16:creationId xmlns:a16="http://schemas.microsoft.com/office/drawing/2014/main" id="{F7521D8D-1A90-4892-8099-C226C9D99E2B}"/>
              </a:ext>
            </a:extLst>
          </p:cNvPr>
          <p:cNvSpPr>
            <a:spLocks noGrp="1"/>
          </p:cNvSpPr>
          <p:nvPr/>
        </p:nvSpPr>
        <p:spPr>
          <a:xfrm>
            <a:off x="6715125" y="2409825"/>
            <a:ext cx="4476750" cy="819150"/>
          </a:xfrm>
          <a:prstGeom prst="rect">
            <a:avLst/>
          </a:prstGeom>
          <a:noFill/>
          <a:ln w="0">
            <a:noFill/>
          </a:ln>
        </p:spPr>
        <p:txBody>
          <a:bodyPr lIns="0" tIns="0" rIns="0" bIns="0" anchor="t">
            <a:noAutofit/>
          </a:bodyPr>
          <a:lstStyle/>
          <a:p>
            <a:pPr>
              <a:defRPr sz="2025" b="0">
                <a:solidFill>
                  <a:srgbClr val="143D40"/>
                </a:solidFill>
                <a:latin typeface="Arial"/>
                <a:ea typeface="Arial"/>
                <a:cs typeface="Arial"/>
              </a:defRPr>
            </a:pPr>
            <a:r>
              <a:rPr sz="2025" b="0" dirty="0">
                <a:solidFill>
                  <a:srgbClr val="143D40"/>
                </a:solidFill>
                <a:latin typeface="Arial"/>
                <a:ea typeface="Arial"/>
                <a:cs typeface="Arial"/>
              </a:rPr>
              <a:t>Repeat travel and uncertainty</a:t>
            </a:r>
          </a:p>
          <a:p>
            <a:pPr>
              <a:defRPr sz="2025" b="0">
                <a:solidFill>
                  <a:srgbClr val="143D40"/>
                </a:solidFill>
                <a:latin typeface="Arial"/>
                <a:ea typeface="Arial"/>
                <a:cs typeface="Arial"/>
              </a:defRPr>
            </a:pPr>
            <a:r>
              <a:rPr sz="2025" b="0" dirty="0">
                <a:solidFill>
                  <a:srgbClr val="143D40"/>
                </a:solidFill>
                <a:latin typeface="Arial"/>
                <a:ea typeface="Arial"/>
                <a:cs typeface="Arial"/>
              </a:rPr>
              <a:t>when a report or referral stalls.</a:t>
            </a:r>
          </a:p>
        </p:txBody>
      </p:sp>
      <p:sp>
        <p:nvSpPr>
          <p:cNvPr id="7" name="Clinicians and care coordinators">
            <a:extLst>
              <a:ext uri="{FF2B5EF4-FFF2-40B4-BE49-F238E27FC236}">
                <a16:creationId xmlns:a16="http://schemas.microsoft.com/office/drawing/2014/main" id="{37AA7DA3-CB8A-4ACC-9C82-44A0A758614C}"/>
              </a:ext>
            </a:extLst>
          </p:cNvPr>
          <p:cNvSpPr>
            <a:spLocks noGrp="1"/>
          </p:cNvSpPr>
          <p:nvPr/>
        </p:nvSpPr>
        <p:spPr>
          <a:xfrm>
            <a:off x="6715125" y="3495675"/>
            <a:ext cx="4667250" cy="400050"/>
          </a:xfrm>
          <a:prstGeom prst="rect">
            <a:avLst/>
          </a:prstGeom>
          <a:noFill/>
          <a:ln w="0">
            <a:noFill/>
          </a:ln>
        </p:spPr>
        <p:txBody>
          <a:bodyPr lIns="0" tIns="0" rIns="0" bIns="0" anchor="t">
            <a:noAutofit/>
          </a:bodyPr>
          <a:lstStyle/>
          <a:p>
            <a:pPr>
              <a:defRPr sz="2175" b="1">
                <a:solidFill>
                  <a:srgbClr val="1D716A"/>
                </a:solidFill>
                <a:latin typeface="Arial"/>
                <a:ea typeface="Arial"/>
                <a:cs typeface="Arial"/>
              </a:defRPr>
            </a:pPr>
            <a:r>
              <a:rPr sz="2175" b="1">
                <a:solidFill>
                  <a:srgbClr val="1D716A"/>
                </a:solidFill>
                <a:latin typeface="Arial"/>
                <a:ea typeface="Arial"/>
                <a:cs typeface="Arial"/>
              </a:rPr>
              <a:t>Clinicians and care coordinators</a:t>
            </a:r>
          </a:p>
        </p:txBody>
      </p:sp>
      <p:sp>
        <p:nvSpPr>
          <p:cNvPr id="8" name="Large caseloads make it difficult&#10;to spot every unfinis">
            <a:extLst>
              <a:ext uri="{FF2B5EF4-FFF2-40B4-BE49-F238E27FC236}">
                <a16:creationId xmlns:a16="http://schemas.microsoft.com/office/drawing/2014/main" id="{3DD4CB77-51E6-438A-AF11-ADA8F2159B08}"/>
              </a:ext>
            </a:extLst>
          </p:cNvPr>
          <p:cNvSpPr>
            <a:spLocks noGrp="1"/>
          </p:cNvSpPr>
          <p:nvPr/>
        </p:nvSpPr>
        <p:spPr>
          <a:xfrm>
            <a:off x="6715125" y="3971925"/>
            <a:ext cx="4667250" cy="857250"/>
          </a:xfrm>
          <a:prstGeom prst="rect">
            <a:avLst/>
          </a:prstGeom>
          <a:noFill/>
          <a:ln w="0">
            <a:noFill/>
          </a:ln>
        </p:spPr>
        <p:txBody>
          <a:bodyPr lIns="0" tIns="0" rIns="0" bIns="0" anchor="t">
            <a:noAutofit/>
          </a:bodyPr>
          <a:lstStyle/>
          <a:p>
            <a:pPr>
              <a:defRPr sz="2025" b="0">
                <a:solidFill>
                  <a:srgbClr val="143D40"/>
                </a:solidFill>
                <a:latin typeface="Arial"/>
                <a:ea typeface="Arial"/>
                <a:cs typeface="Arial"/>
              </a:defRPr>
            </a:pPr>
            <a:r>
              <a:rPr sz="2025" b="0">
                <a:solidFill>
                  <a:srgbClr val="143D40"/>
                </a:solidFill>
                <a:latin typeface="Arial"/>
                <a:ea typeface="Arial"/>
                <a:cs typeface="Arial"/>
              </a:rPr>
              <a:t>Large caseloads make it difficult</a:t>
            </a:r>
          </a:p>
          <a:p>
            <a:pPr>
              <a:defRPr sz="2025" b="0">
                <a:solidFill>
                  <a:srgbClr val="143D40"/>
                </a:solidFill>
                <a:latin typeface="Arial"/>
                <a:ea typeface="Arial"/>
                <a:cs typeface="Arial"/>
              </a:defRPr>
            </a:pPr>
            <a:r>
              <a:rPr sz="2025" b="0">
                <a:solidFill>
                  <a:srgbClr val="143D40"/>
                </a:solidFill>
                <a:latin typeface="Arial"/>
                <a:ea typeface="Arial"/>
                <a:cs typeface="Arial"/>
              </a:rPr>
              <a:t>to spot every unfinished step.</a:t>
            </a:r>
          </a:p>
        </p:txBody>
      </p:sp>
      <p:sp>
        <p:nvSpPr>
          <p:cNvPr id="9" name="Initial focus: cancer care. The journey model also supp">
            <a:extLst>
              <a:ext uri="{FF2B5EF4-FFF2-40B4-BE49-F238E27FC236}">
                <a16:creationId xmlns:a16="http://schemas.microsoft.com/office/drawing/2014/main" id="{694EE260-1E6A-417E-91ED-62445B92175B}"/>
              </a:ext>
            </a:extLst>
          </p:cNvPr>
          <p:cNvSpPr>
            <a:spLocks noGrp="1"/>
          </p:cNvSpPr>
          <p:nvPr/>
        </p:nvSpPr>
        <p:spPr>
          <a:xfrm>
            <a:off x="685800" y="5676900"/>
            <a:ext cx="10382250" cy="495300"/>
          </a:xfrm>
          <a:prstGeom prst="rect">
            <a:avLst/>
          </a:prstGeom>
          <a:noFill/>
          <a:ln w="0">
            <a:noFill/>
          </a:ln>
        </p:spPr>
        <p:txBody>
          <a:bodyPr lIns="0" tIns="0" rIns="0" bIns="0" anchor="t">
            <a:noAutofit/>
          </a:bodyPr>
          <a:lstStyle/>
          <a:p>
            <a:pPr>
              <a:defRPr sz="1725" b="0">
                <a:solidFill>
                  <a:srgbClr val="526D6C"/>
                </a:solidFill>
                <a:latin typeface="Arial"/>
                <a:ea typeface="Arial"/>
                <a:cs typeface="Arial"/>
              </a:defRPr>
            </a:pPr>
            <a:r>
              <a:rPr sz="1725" b="0" dirty="0">
                <a:solidFill>
                  <a:srgbClr val="526D6C"/>
                </a:solidFill>
                <a:latin typeface="Arial"/>
                <a:ea typeface="Arial"/>
                <a:cs typeface="Arial"/>
              </a:rPr>
              <a:t>Initial focus: cancer care. The journey model also supports chronic and maternal care.</a:t>
            </a:r>
          </a:p>
        </p:txBody>
      </p:sp>
    </p:spTree>
    <p:extLst>
      <p:ext uri="{BB962C8B-B14F-4D97-AF65-F5344CB8AC3E}">
        <p14:creationId xmlns:p14="http://schemas.microsoft.com/office/powerpoint/2010/main" val="1928096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3D40"/>
        </a:solidFill>
        <a:effectLst/>
      </p:bgPr>
    </p:bg>
    <p:spTree>
      <p:nvGrpSpPr>
        <p:cNvPr id="1" name=""/>
        <p:cNvGrpSpPr/>
        <p:nvPr/>
      </p:nvGrpSpPr>
      <p:grpSpPr>
        <a:xfrm>
          <a:off x="0" y="0"/>
          <a:ext cx="0" cy="0"/>
          <a:chOff x="0" y="0"/>
          <a:chExt cx="0" cy="0"/>
        </a:xfrm>
      </p:grpSpPr>
      <p:sp>
        <p:nvSpPr>
          <p:cNvPr id="6" name="A prioritized worklist for unfinished care">
            <a:extLst>
              <a:ext uri="{FF2B5EF4-FFF2-40B4-BE49-F238E27FC236}">
                <a16:creationId xmlns:a16="http://schemas.microsoft.com/office/drawing/2014/main" id="{4F975E48-F9C6-45C8-9BD9-9C20C0905EEF}"/>
              </a:ext>
            </a:extLst>
          </p:cNvPr>
          <p:cNvSpPr>
            <a:spLocks noGrp="1"/>
          </p:cNvSpPr>
          <p:nvPr/>
        </p:nvSpPr>
        <p:spPr>
          <a:xfrm>
            <a:off x="685800" y="552450"/>
            <a:ext cx="10820400" cy="1009650"/>
          </a:xfrm>
          <a:prstGeom prst="rect">
            <a:avLst/>
          </a:prstGeom>
          <a:noFill/>
          <a:ln w="0">
            <a:noFill/>
          </a:ln>
        </p:spPr>
        <p:txBody>
          <a:bodyPr lIns="0" tIns="0" rIns="0" bIns="0" anchor="t">
            <a:noAutofit/>
          </a:bodyPr>
          <a:lstStyle/>
          <a:p>
            <a:pPr>
              <a:defRPr sz="3600" b="1">
                <a:solidFill>
                  <a:srgbClr val="F7F5EF"/>
                </a:solidFill>
                <a:latin typeface="Arial"/>
                <a:ea typeface="Arial"/>
                <a:cs typeface="Arial"/>
              </a:defRPr>
            </a:pPr>
            <a:r>
              <a:rPr sz="3600" b="1">
                <a:solidFill>
                  <a:srgbClr val="F7F5EF"/>
                </a:solidFill>
                <a:latin typeface="Arial"/>
                <a:ea typeface="Arial"/>
                <a:cs typeface="Arial"/>
              </a:rPr>
              <a:t>A prioritized worklist for unfinished care</a:t>
            </a:r>
          </a:p>
        </p:txBody>
      </p:sp>
      <p:sp>
        <p:nvSpPr>
          <p:cNvPr id="2" name="03">
            <a:extLst>
              <a:ext uri="{FF2B5EF4-FFF2-40B4-BE49-F238E27FC236}">
                <a16:creationId xmlns:a16="http://schemas.microsoft.com/office/drawing/2014/main" id="{3C6A989C-0F11-47A0-81F0-E53F7E6CDD7A}"/>
              </a:ext>
            </a:extLst>
          </p:cNvPr>
          <p:cNvSpPr>
            <a:spLocks noGrp="1"/>
          </p:cNvSpPr>
          <p:nvPr/>
        </p:nvSpPr>
        <p:spPr>
          <a:xfrm>
            <a:off x="10972800" y="6305550"/>
            <a:ext cx="523875" cy="266700"/>
          </a:xfrm>
          <a:prstGeom prst="rect">
            <a:avLst/>
          </a:prstGeom>
          <a:noFill/>
          <a:ln w="0">
            <a:noFill/>
          </a:ln>
        </p:spPr>
        <p:txBody>
          <a:bodyPr lIns="0" tIns="0" rIns="0" bIns="0" anchor="t">
            <a:noAutofit/>
          </a:bodyPr>
          <a:lstStyle/>
          <a:p>
            <a:pPr>
              <a:defRPr sz="1350" b="0">
                <a:solidFill>
                  <a:srgbClr val="BCE2CB"/>
                </a:solidFill>
                <a:latin typeface="Arial"/>
                <a:ea typeface="Arial"/>
                <a:cs typeface="Arial"/>
              </a:defRPr>
            </a:pPr>
            <a:r>
              <a:rPr sz="1350" b="0">
                <a:solidFill>
                  <a:srgbClr val="BCE2CB"/>
                </a:solidFill>
                <a:latin typeface="Arial"/>
                <a:ea typeface="Arial"/>
                <a:cs typeface="Arial"/>
              </a:rPr>
              <a:t>03</a:t>
            </a:r>
          </a:p>
        </p:txBody>
      </p:sp>
      <p:sp>
        <p:nvSpPr>
          <p:cNvPr id="3" name="Each alert connects a patient, a reason and the record ">
            <a:extLst>
              <a:ext uri="{FF2B5EF4-FFF2-40B4-BE49-F238E27FC236}">
                <a16:creationId xmlns:a16="http://schemas.microsoft.com/office/drawing/2014/main" id="{0DE90F87-A931-4789-9888-EDE5869D35CA}"/>
              </a:ext>
            </a:extLst>
          </p:cNvPr>
          <p:cNvSpPr>
            <a:spLocks noGrp="1"/>
          </p:cNvSpPr>
          <p:nvPr/>
        </p:nvSpPr>
        <p:spPr>
          <a:xfrm>
            <a:off x="685800" y="1609725"/>
            <a:ext cx="10382250" cy="714375"/>
          </a:xfrm>
          <a:prstGeom prst="rect">
            <a:avLst/>
          </a:prstGeom>
          <a:noFill/>
          <a:ln w="0">
            <a:noFill/>
          </a:ln>
        </p:spPr>
        <p:txBody>
          <a:bodyPr lIns="0" tIns="0" rIns="0" bIns="0" anchor="t">
            <a:noAutofit/>
          </a:bodyPr>
          <a:lstStyle/>
          <a:p>
            <a:pPr>
              <a:defRPr sz="2250" b="0">
                <a:solidFill>
                  <a:srgbClr val="BCE2CB"/>
                </a:solidFill>
                <a:latin typeface="Arial"/>
                <a:ea typeface="Arial"/>
                <a:cs typeface="Arial"/>
              </a:defRPr>
            </a:pPr>
            <a:r>
              <a:rPr sz="2250" b="0">
                <a:solidFill>
                  <a:srgbClr val="BCE2CB"/>
                </a:solidFill>
                <a:latin typeface="Arial"/>
                <a:ea typeface="Arial"/>
                <a:cs typeface="Arial"/>
              </a:rPr>
              <a:t>Each alert connects a patient, a reason and the record needed to act.</a:t>
            </a:r>
          </a:p>
        </p:txBody>
      </p:sp>
      <p:graphicFrame>
        <p:nvGraphicFramePr>
          <p:cNvPr id="9" name="Table 8"/>
          <p:cNvGraphicFramePr/>
          <p:nvPr/>
        </p:nvGraphicFramePr>
        <p:xfrm>
          <a:off x="685800" y="2667000"/>
          <a:ext cx="10820400" cy="2714625"/>
        </p:xfrm>
        <a:graphic>
          <a:graphicData uri="http://schemas.openxmlformats.org/drawingml/2006/table">
            <a:tbl>
              <a:tblPr/>
              <a:tblGrid>
                <a:gridCol w="1809750">
                  <a:extLst>
                    <a:ext uri="{9D8B030D-6E8A-4147-A177-3AD203B41FA5}">
                      <a16:colId xmlns:a16="http://schemas.microsoft.com/office/drawing/2014/main" val="20000"/>
                    </a:ext>
                  </a:extLst>
                </a:gridCol>
                <a:gridCol w="4714875">
                  <a:extLst>
                    <a:ext uri="{9D8B030D-6E8A-4147-A177-3AD203B41FA5}">
                      <a16:colId xmlns:a16="http://schemas.microsoft.com/office/drawing/2014/main" val="20001"/>
                    </a:ext>
                  </a:extLst>
                </a:gridCol>
                <a:gridCol w="4295775">
                  <a:extLst>
                    <a:ext uri="{9D8B030D-6E8A-4147-A177-3AD203B41FA5}">
                      <a16:colId xmlns:a16="http://schemas.microsoft.com/office/drawing/2014/main" val="20002"/>
                    </a:ext>
                  </a:extLst>
                </a:gridCol>
              </a:tblGrid>
              <a:tr h="552450">
                <a:tc>
                  <a:txBody>
                    <a:bodyPr/>
                    <a:lstStyle/>
                    <a:p>
                      <a:r>
                        <a:rPr sz="1650" b="1">
                          <a:solidFill>
                            <a:srgbClr val="F7F5EF"/>
                          </a:solidFill>
                          <a:latin typeface="Arial"/>
                          <a:ea typeface="Arial"/>
                          <a:cs typeface="Arial"/>
                        </a:rPr>
                        <a:t>Patient</a:t>
                      </a:r>
                    </a:p>
                  </a:txBody>
                  <a:tcPr marL="171450" marR="171450" marT="133350" marB="114300" anchor="ctr">
                    <a:solidFill>
                      <a:srgbClr val="24544F"/>
                    </a:solidFill>
                  </a:tcPr>
                </a:tc>
                <a:tc>
                  <a:txBody>
                    <a:bodyPr/>
                    <a:lstStyle/>
                    <a:p>
                      <a:r>
                        <a:rPr sz="1650" b="1">
                          <a:solidFill>
                            <a:srgbClr val="F7F5EF"/>
                          </a:solidFill>
                          <a:latin typeface="Arial"/>
                          <a:ea typeface="Arial"/>
                          <a:cs typeface="Arial"/>
                        </a:rPr>
                        <a:t>Why attention is needed</a:t>
                      </a:r>
                    </a:p>
                  </a:txBody>
                  <a:tcPr marL="171450" marR="171450" marT="133350" marB="114300" anchor="ctr">
                    <a:solidFill>
                      <a:srgbClr val="24544F"/>
                    </a:solidFill>
                  </a:tcPr>
                </a:tc>
                <a:tc>
                  <a:txBody>
                    <a:bodyPr/>
                    <a:lstStyle/>
                    <a:p>
                      <a:r>
                        <a:rPr sz="1650" b="1">
                          <a:solidFill>
                            <a:srgbClr val="F7F5EF"/>
                          </a:solidFill>
                          <a:latin typeface="Arial"/>
                          <a:ea typeface="Arial"/>
                          <a:cs typeface="Arial"/>
                        </a:rPr>
                        <a:t>Care team response</a:t>
                      </a:r>
                    </a:p>
                  </a:txBody>
                  <a:tcPr marL="171450" marR="171450" marT="133350" marB="114300" anchor="ctr">
                    <a:solidFill>
                      <a:srgbClr val="24544F"/>
                    </a:solidFill>
                  </a:tcPr>
                </a:tc>
                <a:extLst>
                  <a:ext uri="{0D108BD9-81ED-4DB2-BD59-A6C34878D82A}">
                    <a16:rowId xmlns:a16="http://schemas.microsoft.com/office/drawing/2014/main" val="10000"/>
                  </a:ext>
                </a:extLst>
              </a:tr>
              <a:tr h="720725">
                <a:tc>
                  <a:txBody>
                    <a:bodyPr/>
                    <a:lstStyle/>
                    <a:p>
                      <a:r>
                        <a:rPr sz="1875" b="0">
                          <a:solidFill>
                            <a:srgbClr val="F7F5EF"/>
                          </a:solidFill>
                          <a:latin typeface="Arial"/>
                          <a:ea typeface="Arial"/>
                          <a:cs typeface="Arial"/>
                        </a:rPr>
                        <a:t>Patient A</a:t>
                      </a:r>
                    </a:p>
                  </a:txBody>
                  <a:tcPr marL="171450" marR="171450" marT="133350" marB="114300" anchor="ctr">
                    <a:solidFill>
                      <a:srgbClr val="103D40"/>
                    </a:solidFill>
                  </a:tcPr>
                </a:tc>
                <a:tc>
                  <a:txBody>
                    <a:bodyPr/>
                    <a:lstStyle/>
                    <a:p>
                      <a:r>
                        <a:rPr sz="1875" b="0">
                          <a:solidFill>
                            <a:srgbClr val="F7F5EF"/>
                          </a:solidFill>
                          <a:latin typeface="Arial"/>
                          <a:ea typeface="Arial"/>
                          <a:cs typeface="Arial"/>
                        </a:rPr>
                        <a:t>Pathology pending after dispatch</a:t>
                      </a:r>
                    </a:p>
                  </a:txBody>
                  <a:tcPr marL="171450" marR="171450" marT="133350" marB="114300" anchor="ctr">
                    <a:solidFill>
                      <a:srgbClr val="103D40"/>
                    </a:solidFill>
                  </a:tcPr>
                </a:tc>
                <a:tc>
                  <a:txBody>
                    <a:bodyPr/>
                    <a:lstStyle/>
                    <a:p>
                      <a:r>
                        <a:rPr sz="1875" b="0">
                          <a:solidFill>
                            <a:srgbClr val="F7F5EF"/>
                          </a:solidFill>
                          <a:latin typeface="Arial"/>
                          <a:ea typeface="Arial"/>
                          <a:cs typeface="Arial"/>
                        </a:rPr>
                        <a:t>Check with the laboratory</a:t>
                      </a:r>
                    </a:p>
                  </a:txBody>
                  <a:tcPr marL="171450" marR="171450" marT="133350" marB="114300" anchor="ctr">
                    <a:solidFill>
                      <a:srgbClr val="103D40"/>
                    </a:solidFill>
                  </a:tcPr>
                </a:tc>
                <a:extLst>
                  <a:ext uri="{0D108BD9-81ED-4DB2-BD59-A6C34878D82A}">
                    <a16:rowId xmlns:a16="http://schemas.microsoft.com/office/drawing/2014/main" val="10001"/>
                  </a:ext>
                </a:extLst>
              </a:tr>
              <a:tr h="720725">
                <a:tc>
                  <a:txBody>
                    <a:bodyPr/>
                    <a:lstStyle/>
                    <a:p>
                      <a:r>
                        <a:rPr sz="1875" b="0">
                          <a:solidFill>
                            <a:srgbClr val="F7F5EF"/>
                          </a:solidFill>
                          <a:latin typeface="Arial"/>
                          <a:ea typeface="Arial"/>
                          <a:cs typeface="Arial"/>
                        </a:rPr>
                        <a:t>Patient B</a:t>
                      </a:r>
                    </a:p>
                  </a:txBody>
                  <a:tcPr marL="171450" marR="171450" marT="133350" marB="114300" anchor="ctr">
                    <a:solidFill>
                      <a:srgbClr val="103D40"/>
                    </a:solidFill>
                  </a:tcPr>
                </a:tc>
                <a:tc>
                  <a:txBody>
                    <a:bodyPr/>
                    <a:lstStyle/>
                    <a:p>
                      <a:r>
                        <a:rPr sz="1875" b="0">
                          <a:solidFill>
                            <a:srgbClr val="F7F5EF"/>
                          </a:solidFill>
                          <a:latin typeface="Arial"/>
                          <a:ea typeface="Arial"/>
                          <a:cs typeface="Arial"/>
                        </a:rPr>
                        <a:t>Scheduled follow-up is overdue</a:t>
                      </a:r>
                    </a:p>
                  </a:txBody>
                  <a:tcPr marL="171450" marR="171450" marT="133350" marB="114300" anchor="ctr">
                    <a:solidFill>
                      <a:srgbClr val="103D40"/>
                    </a:solidFill>
                  </a:tcPr>
                </a:tc>
                <a:tc>
                  <a:txBody>
                    <a:bodyPr/>
                    <a:lstStyle/>
                    <a:p>
                      <a:r>
                        <a:rPr sz="1875" b="0">
                          <a:solidFill>
                            <a:srgbClr val="F7F5EF"/>
                          </a:solidFill>
                          <a:latin typeface="Arial"/>
                          <a:ea typeface="Arial"/>
                          <a:cs typeface="Arial"/>
                        </a:rPr>
                        <a:t>Contact and reschedule</a:t>
                      </a:r>
                    </a:p>
                  </a:txBody>
                  <a:tcPr marL="171450" marR="171450" marT="133350" marB="114300" anchor="ctr">
                    <a:solidFill>
                      <a:srgbClr val="103D40"/>
                    </a:solidFill>
                  </a:tcPr>
                </a:tc>
                <a:extLst>
                  <a:ext uri="{0D108BD9-81ED-4DB2-BD59-A6C34878D82A}">
                    <a16:rowId xmlns:a16="http://schemas.microsoft.com/office/drawing/2014/main" val="10002"/>
                  </a:ext>
                </a:extLst>
              </a:tr>
              <a:tr h="720725">
                <a:tc>
                  <a:txBody>
                    <a:bodyPr/>
                    <a:lstStyle/>
                    <a:p>
                      <a:r>
                        <a:rPr sz="1875" b="0">
                          <a:solidFill>
                            <a:srgbClr val="F7F5EF"/>
                          </a:solidFill>
                          <a:latin typeface="Arial"/>
                          <a:ea typeface="Arial"/>
                          <a:cs typeface="Arial"/>
                        </a:rPr>
                        <a:t>Patient C</a:t>
                      </a:r>
                    </a:p>
                  </a:txBody>
                  <a:tcPr marL="171450" marR="171450" marT="133350" marB="114300" anchor="ctr">
                    <a:solidFill>
                      <a:srgbClr val="103D40"/>
                    </a:solidFill>
                  </a:tcPr>
                </a:tc>
                <a:tc>
                  <a:txBody>
                    <a:bodyPr/>
                    <a:lstStyle/>
                    <a:p>
                      <a:r>
                        <a:rPr sz="1875" b="0">
                          <a:solidFill>
                            <a:srgbClr val="F7F5EF"/>
                          </a:solidFill>
                          <a:latin typeface="Arial"/>
                          <a:ea typeface="Arial"/>
                          <a:cs typeface="Arial"/>
                        </a:rPr>
                        <a:t>Referral marked incomplete</a:t>
                      </a:r>
                    </a:p>
                  </a:txBody>
                  <a:tcPr marL="171450" marR="171450" marT="133350" marB="114300" anchor="ctr">
                    <a:solidFill>
                      <a:srgbClr val="103D40"/>
                    </a:solidFill>
                  </a:tcPr>
                </a:tc>
                <a:tc>
                  <a:txBody>
                    <a:bodyPr/>
                    <a:lstStyle/>
                    <a:p>
                      <a:r>
                        <a:rPr sz="1875" b="0">
                          <a:solidFill>
                            <a:srgbClr val="F7F5EF"/>
                          </a:solidFill>
                          <a:latin typeface="Arial"/>
                          <a:ea typeface="Arial"/>
                          <a:cs typeface="Arial"/>
                        </a:rPr>
                        <a:t>Review the referral status</a:t>
                      </a:r>
                    </a:p>
                  </a:txBody>
                  <a:tcPr marL="171450" marR="171450" marT="133350" marB="114300" anchor="ctr">
                    <a:solidFill>
                      <a:srgbClr val="103D40"/>
                    </a:solidFill>
                  </a:tcPr>
                </a:tc>
                <a:extLst>
                  <a:ext uri="{0D108BD9-81ED-4DB2-BD59-A6C34878D82A}">
                    <a16:rowId xmlns:a16="http://schemas.microsoft.com/office/drawing/2014/main" val="10003"/>
                  </a:ext>
                </a:extLst>
              </a:tr>
            </a:tbl>
          </a:graphicData>
        </a:graphic>
      </p:graphicFrame>
      <p:sp>
        <p:nvSpPr>
          <p:cNvPr id="5" name="Illustrative worklist. Care teams review alerts and rec">
            <a:extLst>
              <a:ext uri="{FF2B5EF4-FFF2-40B4-BE49-F238E27FC236}">
                <a16:creationId xmlns:a16="http://schemas.microsoft.com/office/drawing/2014/main" id="{2A9B3A6A-3AE3-47CA-803F-ECC075BCDD43}"/>
              </a:ext>
            </a:extLst>
          </p:cNvPr>
          <p:cNvSpPr>
            <a:spLocks noGrp="1"/>
          </p:cNvSpPr>
          <p:nvPr/>
        </p:nvSpPr>
        <p:spPr>
          <a:xfrm>
            <a:off x="685800" y="5734050"/>
            <a:ext cx="10191750" cy="457200"/>
          </a:xfrm>
          <a:prstGeom prst="rect">
            <a:avLst/>
          </a:prstGeom>
          <a:noFill/>
          <a:ln w="0">
            <a:noFill/>
          </a:ln>
        </p:spPr>
        <p:txBody>
          <a:bodyPr lIns="0" tIns="0" rIns="0" bIns="0" anchor="t">
            <a:noAutofit/>
          </a:bodyPr>
          <a:lstStyle/>
          <a:p>
            <a:pPr>
              <a:defRPr sz="1725" b="0">
                <a:solidFill>
                  <a:srgbClr val="BCE2CB"/>
                </a:solidFill>
                <a:latin typeface="Arial"/>
                <a:ea typeface="Arial"/>
                <a:cs typeface="Arial"/>
              </a:defRPr>
            </a:pPr>
            <a:r>
              <a:rPr sz="1725" b="0">
                <a:solidFill>
                  <a:srgbClr val="BCE2CB"/>
                </a:solidFill>
                <a:latin typeface="Arial"/>
                <a:ea typeface="Arial"/>
                <a:cs typeface="Arial"/>
              </a:rPr>
              <a:t>Illustrative worklist. Care teams review alerts and record the action taken.</a:t>
            </a:r>
          </a:p>
        </p:txBody>
      </p:sp>
    </p:spTree>
    <p:extLst>
      <p:ext uri="{BB962C8B-B14F-4D97-AF65-F5344CB8AC3E}">
        <p14:creationId xmlns:p14="http://schemas.microsoft.com/office/powerpoint/2010/main" val="20469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6" name="A delayed report, made visible">
            <a:extLst>
              <a:ext uri="{FF2B5EF4-FFF2-40B4-BE49-F238E27FC236}">
                <a16:creationId xmlns:a16="http://schemas.microsoft.com/office/drawing/2014/main" id="{04F214C6-70B0-4EDD-94E2-42289468215E}"/>
              </a:ext>
            </a:extLst>
          </p:cNvPr>
          <p:cNvSpPr>
            <a:spLocks noGrp="1"/>
          </p:cNvSpPr>
          <p:nvPr/>
        </p:nvSpPr>
        <p:spPr>
          <a:xfrm>
            <a:off x="685800" y="552450"/>
            <a:ext cx="10820400" cy="1009650"/>
          </a:xfrm>
          <a:prstGeom prst="rect">
            <a:avLst/>
          </a:prstGeom>
          <a:noFill/>
          <a:ln w="0">
            <a:noFill/>
          </a:ln>
        </p:spPr>
        <p:txBody>
          <a:bodyPr lIns="0" tIns="0" rIns="0" bIns="0" anchor="t">
            <a:noAutofit/>
          </a:bodyPr>
          <a:lstStyle/>
          <a:p>
            <a:pPr>
              <a:defRPr sz="3600" b="1">
                <a:solidFill>
                  <a:srgbClr val="143D40"/>
                </a:solidFill>
                <a:latin typeface="Arial"/>
                <a:ea typeface="Arial"/>
                <a:cs typeface="Arial"/>
              </a:defRPr>
            </a:pPr>
            <a:r>
              <a:rPr sz="3600" b="1">
                <a:solidFill>
                  <a:srgbClr val="143D40"/>
                </a:solidFill>
                <a:latin typeface="Arial"/>
                <a:ea typeface="Arial"/>
                <a:cs typeface="Arial"/>
              </a:rPr>
              <a:t>A delayed report, made visible</a:t>
            </a:r>
          </a:p>
        </p:txBody>
      </p:sp>
      <p:sp>
        <p:nvSpPr>
          <p:cNvPr id="2" name="04">
            <a:extLst>
              <a:ext uri="{FF2B5EF4-FFF2-40B4-BE49-F238E27FC236}">
                <a16:creationId xmlns:a16="http://schemas.microsoft.com/office/drawing/2014/main" id="{232E249C-B84F-42E6-91A9-F94D99504514}"/>
              </a:ext>
            </a:extLst>
          </p:cNvPr>
          <p:cNvSpPr>
            <a:spLocks noGrp="1"/>
          </p:cNvSpPr>
          <p:nvPr/>
        </p:nvSpPr>
        <p:spPr>
          <a:xfrm>
            <a:off x="10972800" y="6305550"/>
            <a:ext cx="523875" cy="266700"/>
          </a:xfrm>
          <a:prstGeom prst="rect">
            <a:avLst/>
          </a:prstGeom>
          <a:noFill/>
          <a:ln w="0">
            <a:noFill/>
          </a:ln>
        </p:spPr>
        <p:txBody>
          <a:bodyPr lIns="0" tIns="0" rIns="0" bIns="0" anchor="t">
            <a:noAutofit/>
          </a:bodyPr>
          <a:lstStyle/>
          <a:p>
            <a:pPr>
              <a:defRPr sz="1350" b="0">
                <a:solidFill>
                  <a:srgbClr val="526D6C"/>
                </a:solidFill>
                <a:latin typeface="Arial"/>
                <a:ea typeface="Arial"/>
                <a:cs typeface="Arial"/>
              </a:defRPr>
            </a:pPr>
            <a:r>
              <a:rPr sz="1350" b="0">
                <a:solidFill>
                  <a:srgbClr val="526D6C"/>
                </a:solidFill>
                <a:latin typeface="Arial"/>
                <a:ea typeface="Arial"/>
                <a:cs typeface="Arial"/>
              </a:rPr>
              <a:t>04</a:t>
            </a:r>
          </a:p>
        </p:txBody>
      </p:sp>
      <p:sp>
        <p:nvSpPr>
          <p:cNvPr id="3" name="Illustrative patient journey">
            <a:extLst>
              <a:ext uri="{FF2B5EF4-FFF2-40B4-BE49-F238E27FC236}">
                <a16:creationId xmlns:a16="http://schemas.microsoft.com/office/drawing/2014/main" id="{6E7B0B5C-4192-45FD-A833-743006869B62}"/>
              </a:ext>
            </a:extLst>
          </p:cNvPr>
          <p:cNvSpPr>
            <a:spLocks noGrp="1"/>
          </p:cNvSpPr>
          <p:nvPr/>
        </p:nvSpPr>
        <p:spPr>
          <a:xfrm>
            <a:off x="685800" y="1647825"/>
            <a:ext cx="10382250" cy="428625"/>
          </a:xfrm>
          <a:prstGeom prst="rect">
            <a:avLst/>
          </a:prstGeom>
          <a:noFill/>
          <a:ln w="0">
            <a:noFill/>
          </a:ln>
        </p:spPr>
        <p:txBody>
          <a:bodyPr lIns="0" tIns="0" rIns="0" bIns="0" anchor="t">
            <a:noAutofit/>
          </a:bodyPr>
          <a:lstStyle/>
          <a:p>
            <a:pPr>
              <a:defRPr sz="1950" b="0">
                <a:solidFill>
                  <a:srgbClr val="526D6C"/>
                </a:solidFill>
                <a:latin typeface="Arial"/>
                <a:ea typeface="Arial"/>
                <a:cs typeface="Arial"/>
              </a:defRPr>
            </a:pPr>
            <a:r>
              <a:rPr sz="1950" b="0">
                <a:solidFill>
                  <a:srgbClr val="526D6C"/>
                </a:solidFill>
                <a:latin typeface="Arial"/>
                <a:ea typeface="Arial"/>
                <a:cs typeface="Arial"/>
              </a:rPr>
              <a:t>Illustrative patient journey</a:t>
            </a:r>
          </a:p>
        </p:txBody>
      </p:sp>
      <p:sp>
        <p:nvSpPr>
          <p:cNvPr id="4" name="01">
            <a:extLst>
              <a:ext uri="{FF2B5EF4-FFF2-40B4-BE49-F238E27FC236}">
                <a16:creationId xmlns:a16="http://schemas.microsoft.com/office/drawing/2014/main" id="{72C57E51-9578-4C81-A5B2-78564A2EAF8B}"/>
              </a:ext>
            </a:extLst>
          </p:cNvPr>
          <p:cNvSpPr>
            <a:spLocks noGrp="1"/>
          </p:cNvSpPr>
          <p:nvPr/>
        </p:nvSpPr>
        <p:spPr>
          <a:xfrm>
            <a:off x="685800" y="2457450"/>
            <a:ext cx="762000" cy="600075"/>
          </a:xfrm>
          <a:prstGeom prst="rect">
            <a:avLst/>
          </a:prstGeom>
          <a:noFill/>
          <a:ln w="0">
            <a:noFill/>
          </a:ln>
        </p:spPr>
        <p:txBody>
          <a:bodyPr lIns="0" tIns="0" rIns="0" bIns="0" anchor="t">
            <a:noAutofit/>
          </a:bodyPr>
          <a:lstStyle/>
          <a:p>
            <a:pPr>
              <a:defRPr sz="3450" b="1">
                <a:solidFill>
                  <a:srgbClr val="C96B4E"/>
                </a:solidFill>
                <a:latin typeface="Arial"/>
                <a:ea typeface="Arial"/>
                <a:cs typeface="Arial"/>
              </a:defRPr>
            </a:pPr>
            <a:r>
              <a:rPr sz="3450" b="1">
                <a:solidFill>
                  <a:srgbClr val="C96B4E"/>
                </a:solidFill>
                <a:latin typeface="Arial"/>
                <a:ea typeface="Arial"/>
                <a:cs typeface="Arial"/>
              </a:rPr>
              <a:t>01</a:t>
            </a:r>
          </a:p>
        </p:txBody>
      </p:sp>
      <p:sp>
        <p:nvSpPr>
          <p:cNvPr id="5" name="Capture the event">
            <a:extLst>
              <a:ext uri="{FF2B5EF4-FFF2-40B4-BE49-F238E27FC236}">
                <a16:creationId xmlns:a16="http://schemas.microsoft.com/office/drawing/2014/main" id="{51DD6791-C31F-47AC-A1FB-81EC3DBF7D5C}"/>
              </a:ext>
            </a:extLst>
          </p:cNvPr>
          <p:cNvSpPr>
            <a:spLocks noGrp="1"/>
          </p:cNvSpPr>
          <p:nvPr/>
        </p:nvSpPr>
        <p:spPr>
          <a:xfrm>
            <a:off x="1581150" y="2476500"/>
            <a:ext cx="4171950" cy="438150"/>
          </a:xfrm>
          <a:prstGeom prst="rect">
            <a:avLst/>
          </a:prstGeom>
          <a:noFill/>
          <a:ln w="0">
            <a:noFill/>
          </a:ln>
        </p:spPr>
        <p:txBody>
          <a:bodyPr lIns="0" tIns="0" rIns="0" bIns="0" anchor="t">
            <a:noAutofit/>
          </a:bodyPr>
          <a:lstStyle/>
          <a:p>
            <a:pPr>
              <a:defRPr sz="2250" b="1">
                <a:solidFill>
                  <a:srgbClr val="143D40"/>
                </a:solidFill>
                <a:latin typeface="Arial"/>
                <a:ea typeface="Arial"/>
                <a:cs typeface="Arial"/>
              </a:defRPr>
            </a:pPr>
            <a:r>
              <a:rPr sz="2250" b="1">
                <a:solidFill>
                  <a:srgbClr val="143D40"/>
                </a:solidFill>
                <a:latin typeface="Arial"/>
                <a:ea typeface="Arial"/>
                <a:cs typeface="Arial"/>
              </a:rPr>
              <a:t>Capture the event</a:t>
            </a:r>
          </a:p>
        </p:txBody>
      </p:sp>
      <p:sp>
        <p:nvSpPr>
          <p:cNvPr id="6" name="The care team records a biopsy&#10;and specimen dispatch da">
            <a:extLst>
              <a:ext uri="{FF2B5EF4-FFF2-40B4-BE49-F238E27FC236}">
                <a16:creationId xmlns:a16="http://schemas.microsoft.com/office/drawing/2014/main" id="{E18C3734-CB70-4591-B2BE-647D2A7C94B0}"/>
              </a:ext>
            </a:extLst>
          </p:cNvPr>
          <p:cNvSpPr>
            <a:spLocks noGrp="1"/>
          </p:cNvSpPr>
          <p:nvPr/>
        </p:nvSpPr>
        <p:spPr>
          <a:xfrm>
            <a:off x="1581150" y="3048000"/>
            <a:ext cx="4171950" cy="857250"/>
          </a:xfrm>
          <a:prstGeom prst="rect">
            <a:avLst/>
          </a:prstGeom>
          <a:noFill/>
          <a:ln w="0">
            <a:noFill/>
          </a:ln>
        </p:spPr>
        <p:txBody>
          <a:bodyPr lIns="0" tIns="0" rIns="0" bIns="0" anchor="t">
            <a:noAutofit/>
          </a:bodyPr>
          <a:lstStyle/>
          <a:p>
            <a:pPr>
              <a:defRPr sz="1875" b="0">
                <a:solidFill>
                  <a:srgbClr val="526D6C"/>
                </a:solidFill>
                <a:latin typeface="Arial"/>
                <a:ea typeface="Arial"/>
                <a:cs typeface="Arial"/>
              </a:defRPr>
            </a:pPr>
            <a:r>
              <a:rPr sz="1875" b="0" dirty="0">
                <a:solidFill>
                  <a:srgbClr val="526D6C"/>
                </a:solidFill>
                <a:latin typeface="Arial"/>
                <a:ea typeface="Arial"/>
                <a:cs typeface="Arial"/>
              </a:rPr>
              <a:t>The care team records a biopsy</a:t>
            </a:r>
          </a:p>
          <a:p>
            <a:pPr>
              <a:defRPr sz="1875" b="0">
                <a:solidFill>
                  <a:srgbClr val="526D6C"/>
                </a:solidFill>
                <a:latin typeface="Arial"/>
                <a:ea typeface="Arial"/>
                <a:cs typeface="Arial"/>
              </a:defRPr>
            </a:pPr>
            <a:r>
              <a:rPr sz="1875" b="0" dirty="0">
                <a:solidFill>
                  <a:srgbClr val="526D6C"/>
                </a:solidFill>
                <a:latin typeface="Arial"/>
                <a:ea typeface="Arial"/>
                <a:cs typeface="Arial"/>
              </a:rPr>
              <a:t>and specimen dispatch date.</a:t>
            </a:r>
          </a:p>
        </p:txBody>
      </p:sp>
      <p:sp>
        <p:nvSpPr>
          <p:cNvPr id="7" name="02">
            <a:extLst>
              <a:ext uri="{FF2B5EF4-FFF2-40B4-BE49-F238E27FC236}">
                <a16:creationId xmlns:a16="http://schemas.microsoft.com/office/drawing/2014/main" id="{003BB4E1-3A40-4054-8000-8F4E736B1C04}"/>
              </a:ext>
            </a:extLst>
          </p:cNvPr>
          <p:cNvSpPr>
            <a:spLocks noGrp="1"/>
          </p:cNvSpPr>
          <p:nvPr/>
        </p:nvSpPr>
        <p:spPr>
          <a:xfrm>
            <a:off x="6619875" y="2457450"/>
            <a:ext cx="762000" cy="600075"/>
          </a:xfrm>
          <a:prstGeom prst="rect">
            <a:avLst/>
          </a:prstGeom>
          <a:noFill/>
          <a:ln w="0">
            <a:noFill/>
          </a:ln>
        </p:spPr>
        <p:txBody>
          <a:bodyPr lIns="0" tIns="0" rIns="0" bIns="0" anchor="t">
            <a:noAutofit/>
          </a:bodyPr>
          <a:lstStyle/>
          <a:p>
            <a:pPr>
              <a:defRPr sz="3450" b="1">
                <a:solidFill>
                  <a:srgbClr val="C96B4E"/>
                </a:solidFill>
                <a:latin typeface="Arial"/>
                <a:ea typeface="Arial"/>
                <a:cs typeface="Arial"/>
              </a:defRPr>
            </a:pPr>
            <a:r>
              <a:rPr sz="3450" b="1">
                <a:solidFill>
                  <a:srgbClr val="C96B4E"/>
                </a:solidFill>
                <a:latin typeface="Arial"/>
                <a:ea typeface="Arial"/>
                <a:cs typeface="Arial"/>
              </a:rPr>
              <a:t>02</a:t>
            </a:r>
          </a:p>
        </p:txBody>
      </p:sp>
      <p:sp>
        <p:nvSpPr>
          <p:cNvPr id="8" name="Detect the gap">
            <a:extLst>
              <a:ext uri="{FF2B5EF4-FFF2-40B4-BE49-F238E27FC236}">
                <a16:creationId xmlns:a16="http://schemas.microsoft.com/office/drawing/2014/main" id="{F658B514-A3DC-4AE0-904E-60F6BB1F8FB0}"/>
              </a:ext>
            </a:extLst>
          </p:cNvPr>
          <p:cNvSpPr>
            <a:spLocks noGrp="1"/>
          </p:cNvSpPr>
          <p:nvPr/>
        </p:nvSpPr>
        <p:spPr>
          <a:xfrm>
            <a:off x="7515225" y="2476500"/>
            <a:ext cx="4171950" cy="438150"/>
          </a:xfrm>
          <a:prstGeom prst="rect">
            <a:avLst/>
          </a:prstGeom>
          <a:noFill/>
          <a:ln w="0">
            <a:noFill/>
          </a:ln>
        </p:spPr>
        <p:txBody>
          <a:bodyPr lIns="0" tIns="0" rIns="0" bIns="0" anchor="t">
            <a:noAutofit/>
          </a:bodyPr>
          <a:lstStyle/>
          <a:p>
            <a:pPr>
              <a:defRPr sz="2250" b="1">
                <a:solidFill>
                  <a:srgbClr val="143D40"/>
                </a:solidFill>
                <a:latin typeface="Arial"/>
                <a:ea typeface="Arial"/>
                <a:cs typeface="Arial"/>
              </a:defRPr>
            </a:pPr>
            <a:r>
              <a:rPr sz="2250" b="1">
                <a:solidFill>
                  <a:srgbClr val="143D40"/>
                </a:solidFill>
                <a:latin typeface="Arial"/>
                <a:ea typeface="Arial"/>
                <a:cs typeface="Arial"/>
              </a:rPr>
              <a:t>Detect the gap</a:t>
            </a:r>
          </a:p>
        </p:txBody>
      </p:sp>
      <p:sp>
        <p:nvSpPr>
          <p:cNvPr id="9" name="The report remains pending beyond&#10;a seven-day waiting p">
            <a:extLst>
              <a:ext uri="{FF2B5EF4-FFF2-40B4-BE49-F238E27FC236}">
                <a16:creationId xmlns:a16="http://schemas.microsoft.com/office/drawing/2014/main" id="{651FB463-7AF8-472A-AF0C-51E23536E7E8}"/>
              </a:ext>
            </a:extLst>
          </p:cNvPr>
          <p:cNvSpPr>
            <a:spLocks noGrp="1"/>
          </p:cNvSpPr>
          <p:nvPr/>
        </p:nvSpPr>
        <p:spPr>
          <a:xfrm>
            <a:off x="7515225" y="3048000"/>
            <a:ext cx="4171950" cy="857250"/>
          </a:xfrm>
          <a:prstGeom prst="rect">
            <a:avLst/>
          </a:prstGeom>
          <a:noFill/>
          <a:ln w="0">
            <a:noFill/>
          </a:ln>
        </p:spPr>
        <p:txBody>
          <a:bodyPr lIns="0" tIns="0" rIns="0" bIns="0" anchor="t">
            <a:noAutofit/>
          </a:bodyPr>
          <a:lstStyle/>
          <a:p>
            <a:pPr>
              <a:defRPr sz="1875" b="0">
                <a:solidFill>
                  <a:srgbClr val="526D6C"/>
                </a:solidFill>
                <a:latin typeface="Arial"/>
                <a:ea typeface="Arial"/>
                <a:cs typeface="Arial"/>
              </a:defRPr>
            </a:pPr>
            <a:r>
              <a:rPr sz="1875" b="0">
                <a:solidFill>
                  <a:srgbClr val="526D6C"/>
                </a:solidFill>
                <a:latin typeface="Arial"/>
                <a:ea typeface="Arial"/>
                <a:cs typeface="Arial"/>
              </a:rPr>
              <a:t>The report remains pending beyond</a:t>
            </a:r>
          </a:p>
          <a:p>
            <a:pPr>
              <a:defRPr sz="1875" b="0">
                <a:solidFill>
                  <a:srgbClr val="526D6C"/>
                </a:solidFill>
                <a:latin typeface="Arial"/>
                <a:ea typeface="Arial"/>
                <a:cs typeface="Arial"/>
              </a:defRPr>
            </a:pPr>
            <a:r>
              <a:rPr sz="1875" b="0">
                <a:solidFill>
                  <a:srgbClr val="526D6C"/>
                </a:solidFill>
                <a:latin typeface="Arial"/>
                <a:ea typeface="Arial"/>
                <a:cs typeface="Arial"/>
              </a:rPr>
              <a:t>a seven-day waiting period.</a:t>
            </a:r>
          </a:p>
        </p:txBody>
      </p:sp>
      <p:sp>
        <p:nvSpPr>
          <p:cNvPr id="10" name="03">
            <a:extLst>
              <a:ext uri="{FF2B5EF4-FFF2-40B4-BE49-F238E27FC236}">
                <a16:creationId xmlns:a16="http://schemas.microsoft.com/office/drawing/2014/main" id="{892173D2-D804-4139-B6E9-6E4FE004C870}"/>
              </a:ext>
            </a:extLst>
          </p:cNvPr>
          <p:cNvSpPr>
            <a:spLocks noGrp="1"/>
          </p:cNvSpPr>
          <p:nvPr/>
        </p:nvSpPr>
        <p:spPr>
          <a:xfrm>
            <a:off x="685800" y="4229100"/>
            <a:ext cx="762000" cy="600075"/>
          </a:xfrm>
          <a:prstGeom prst="rect">
            <a:avLst/>
          </a:prstGeom>
          <a:noFill/>
          <a:ln w="0">
            <a:noFill/>
          </a:ln>
        </p:spPr>
        <p:txBody>
          <a:bodyPr lIns="0" tIns="0" rIns="0" bIns="0" anchor="t">
            <a:noAutofit/>
          </a:bodyPr>
          <a:lstStyle/>
          <a:p>
            <a:pPr>
              <a:defRPr sz="3450" b="1">
                <a:solidFill>
                  <a:srgbClr val="C96B4E"/>
                </a:solidFill>
                <a:latin typeface="Arial"/>
                <a:ea typeface="Arial"/>
                <a:cs typeface="Arial"/>
              </a:defRPr>
            </a:pPr>
            <a:r>
              <a:rPr sz="3450" b="1">
                <a:solidFill>
                  <a:srgbClr val="C96B4E"/>
                </a:solidFill>
                <a:latin typeface="Arial"/>
                <a:ea typeface="Arial"/>
                <a:cs typeface="Arial"/>
              </a:rPr>
              <a:t>03</a:t>
            </a:r>
          </a:p>
        </p:txBody>
      </p:sp>
      <p:sp>
        <p:nvSpPr>
          <p:cNvPr id="11" name="Review the record">
            <a:extLst>
              <a:ext uri="{FF2B5EF4-FFF2-40B4-BE49-F238E27FC236}">
                <a16:creationId xmlns:a16="http://schemas.microsoft.com/office/drawing/2014/main" id="{D5F0F80B-43EB-4DCE-B46B-05D558535C2C}"/>
              </a:ext>
            </a:extLst>
          </p:cNvPr>
          <p:cNvSpPr>
            <a:spLocks noGrp="1"/>
          </p:cNvSpPr>
          <p:nvPr/>
        </p:nvSpPr>
        <p:spPr>
          <a:xfrm>
            <a:off x="1581150" y="4248150"/>
            <a:ext cx="4171950" cy="438150"/>
          </a:xfrm>
          <a:prstGeom prst="rect">
            <a:avLst/>
          </a:prstGeom>
          <a:noFill/>
          <a:ln w="0">
            <a:noFill/>
          </a:ln>
        </p:spPr>
        <p:txBody>
          <a:bodyPr lIns="0" tIns="0" rIns="0" bIns="0" anchor="t">
            <a:noAutofit/>
          </a:bodyPr>
          <a:lstStyle/>
          <a:p>
            <a:pPr>
              <a:defRPr sz="2250" b="1">
                <a:solidFill>
                  <a:srgbClr val="143D40"/>
                </a:solidFill>
                <a:latin typeface="Arial"/>
                <a:ea typeface="Arial"/>
                <a:cs typeface="Arial"/>
              </a:defRPr>
            </a:pPr>
            <a:r>
              <a:rPr sz="2250" b="1">
                <a:solidFill>
                  <a:srgbClr val="143D40"/>
                </a:solidFill>
                <a:latin typeface="Arial"/>
                <a:ea typeface="Arial"/>
                <a:cs typeface="Arial"/>
              </a:rPr>
              <a:t>Review the record</a:t>
            </a:r>
          </a:p>
        </p:txBody>
      </p:sp>
      <p:sp>
        <p:nvSpPr>
          <p:cNvPr id="12" name="The alert opens the patient’s history&#10;so staff can chec">
            <a:extLst>
              <a:ext uri="{FF2B5EF4-FFF2-40B4-BE49-F238E27FC236}">
                <a16:creationId xmlns:a16="http://schemas.microsoft.com/office/drawing/2014/main" id="{67BA6474-E4B6-4627-B551-0AE9F43D9A88}"/>
              </a:ext>
            </a:extLst>
          </p:cNvPr>
          <p:cNvSpPr>
            <a:spLocks noGrp="1"/>
          </p:cNvSpPr>
          <p:nvPr/>
        </p:nvSpPr>
        <p:spPr>
          <a:xfrm>
            <a:off x="1581150" y="4819650"/>
            <a:ext cx="4171950" cy="857250"/>
          </a:xfrm>
          <a:prstGeom prst="rect">
            <a:avLst/>
          </a:prstGeom>
          <a:noFill/>
          <a:ln w="0">
            <a:noFill/>
          </a:ln>
        </p:spPr>
        <p:txBody>
          <a:bodyPr lIns="0" tIns="0" rIns="0" bIns="0" anchor="t">
            <a:noAutofit/>
          </a:bodyPr>
          <a:lstStyle/>
          <a:p>
            <a:pPr>
              <a:defRPr sz="1875" b="0">
                <a:solidFill>
                  <a:srgbClr val="526D6C"/>
                </a:solidFill>
                <a:latin typeface="Arial"/>
                <a:ea typeface="Arial"/>
                <a:cs typeface="Arial"/>
              </a:defRPr>
            </a:pPr>
            <a:r>
              <a:rPr sz="1875" b="0" dirty="0">
                <a:solidFill>
                  <a:srgbClr val="526D6C"/>
                </a:solidFill>
                <a:latin typeface="Arial"/>
                <a:ea typeface="Arial"/>
                <a:cs typeface="Arial"/>
              </a:rPr>
              <a:t>The alert opens the patient’s history</a:t>
            </a:r>
          </a:p>
          <a:p>
            <a:pPr>
              <a:defRPr sz="1875" b="0">
                <a:solidFill>
                  <a:srgbClr val="526D6C"/>
                </a:solidFill>
                <a:latin typeface="Arial"/>
                <a:ea typeface="Arial"/>
                <a:cs typeface="Arial"/>
              </a:defRPr>
            </a:pPr>
            <a:r>
              <a:rPr sz="1875" b="0" dirty="0">
                <a:solidFill>
                  <a:srgbClr val="526D6C"/>
                </a:solidFill>
                <a:latin typeface="Arial"/>
                <a:ea typeface="Arial"/>
                <a:cs typeface="Arial"/>
              </a:rPr>
              <a:t>so staff can check the delay.</a:t>
            </a:r>
          </a:p>
        </p:txBody>
      </p:sp>
      <p:sp>
        <p:nvSpPr>
          <p:cNvPr id="13" name="04">
            <a:extLst>
              <a:ext uri="{FF2B5EF4-FFF2-40B4-BE49-F238E27FC236}">
                <a16:creationId xmlns:a16="http://schemas.microsoft.com/office/drawing/2014/main" id="{705CA2BD-F4D5-4C8B-AD54-075BCD2B7589}"/>
              </a:ext>
            </a:extLst>
          </p:cNvPr>
          <p:cNvSpPr>
            <a:spLocks noGrp="1"/>
          </p:cNvSpPr>
          <p:nvPr/>
        </p:nvSpPr>
        <p:spPr>
          <a:xfrm>
            <a:off x="6619875" y="4229100"/>
            <a:ext cx="762000" cy="600075"/>
          </a:xfrm>
          <a:prstGeom prst="rect">
            <a:avLst/>
          </a:prstGeom>
          <a:noFill/>
          <a:ln w="0">
            <a:noFill/>
          </a:ln>
        </p:spPr>
        <p:txBody>
          <a:bodyPr lIns="0" tIns="0" rIns="0" bIns="0" anchor="t">
            <a:noAutofit/>
          </a:bodyPr>
          <a:lstStyle/>
          <a:p>
            <a:pPr>
              <a:defRPr sz="3450" b="1">
                <a:solidFill>
                  <a:srgbClr val="C96B4E"/>
                </a:solidFill>
                <a:latin typeface="Arial"/>
                <a:ea typeface="Arial"/>
                <a:cs typeface="Arial"/>
              </a:defRPr>
            </a:pPr>
            <a:r>
              <a:rPr sz="3450" b="1">
                <a:solidFill>
                  <a:srgbClr val="C96B4E"/>
                </a:solidFill>
                <a:latin typeface="Arial"/>
                <a:ea typeface="Arial"/>
                <a:cs typeface="Arial"/>
              </a:rPr>
              <a:t>04</a:t>
            </a:r>
          </a:p>
        </p:txBody>
      </p:sp>
      <p:sp>
        <p:nvSpPr>
          <p:cNvPr id="14" name="Complete the next step">
            <a:extLst>
              <a:ext uri="{FF2B5EF4-FFF2-40B4-BE49-F238E27FC236}">
                <a16:creationId xmlns:a16="http://schemas.microsoft.com/office/drawing/2014/main" id="{BD4D08F6-9D2D-47B2-9FC4-2F5E8E916286}"/>
              </a:ext>
            </a:extLst>
          </p:cNvPr>
          <p:cNvSpPr>
            <a:spLocks noGrp="1"/>
          </p:cNvSpPr>
          <p:nvPr/>
        </p:nvSpPr>
        <p:spPr>
          <a:xfrm>
            <a:off x="7515225" y="4248150"/>
            <a:ext cx="4171950" cy="438150"/>
          </a:xfrm>
          <a:prstGeom prst="rect">
            <a:avLst/>
          </a:prstGeom>
          <a:noFill/>
          <a:ln w="0">
            <a:noFill/>
          </a:ln>
        </p:spPr>
        <p:txBody>
          <a:bodyPr lIns="0" tIns="0" rIns="0" bIns="0" anchor="t">
            <a:noAutofit/>
          </a:bodyPr>
          <a:lstStyle/>
          <a:p>
            <a:pPr>
              <a:defRPr sz="2250" b="1">
                <a:solidFill>
                  <a:srgbClr val="143D40"/>
                </a:solidFill>
                <a:latin typeface="Arial"/>
                <a:ea typeface="Arial"/>
                <a:cs typeface="Arial"/>
              </a:defRPr>
            </a:pPr>
            <a:r>
              <a:rPr sz="2250" b="1">
                <a:solidFill>
                  <a:srgbClr val="143D40"/>
                </a:solidFill>
                <a:latin typeface="Arial"/>
                <a:ea typeface="Arial"/>
                <a:cs typeface="Arial"/>
              </a:rPr>
              <a:t>Complete the next step</a:t>
            </a:r>
          </a:p>
        </p:txBody>
      </p:sp>
      <p:sp>
        <p:nvSpPr>
          <p:cNvPr id="15" name="Staff obtain the report and update&#10;the record and refer">
            <a:extLst>
              <a:ext uri="{FF2B5EF4-FFF2-40B4-BE49-F238E27FC236}">
                <a16:creationId xmlns:a16="http://schemas.microsoft.com/office/drawing/2014/main" id="{C9434E43-2D17-430B-BFFF-059B223649FA}"/>
              </a:ext>
            </a:extLst>
          </p:cNvPr>
          <p:cNvSpPr>
            <a:spLocks noGrp="1"/>
          </p:cNvSpPr>
          <p:nvPr/>
        </p:nvSpPr>
        <p:spPr>
          <a:xfrm>
            <a:off x="7515225" y="4819650"/>
            <a:ext cx="4171950" cy="857250"/>
          </a:xfrm>
          <a:prstGeom prst="rect">
            <a:avLst/>
          </a:prstGeom>
          <a:noFill/>
          <a:ln w="0">
            <a:noFill/>
          </a:ln>
        </p:spPr>
        <p:txBody>
          <a:bodyPr lIns="0" tIns="0" rIns="0" bIns="0" anchor="t">
            <a:noAutofit/>
          </a:bodyPr>
          <a:lstStyle/>
          <a:p>
            <a:pPr>
              <a:defRPr sz="1875" b="0">
                <a:solidFill>
                  <a:srgbClr val="526D6C"/>
                </a:solidFill>
                <a:latin typeface="Arial"/>
                <a:ea typeface="Arial"/>
                <a:cs typeface="Arial"/>
              </a:defRPr>
            </a:pPr>
            <a:r>
              <a:rPr sz="1875" b="0">
                <a:solidFill>
                  <a:srgbClr val="526D6C"/>
                </a:solidFill>
                <a:latin typeface="Arial"/>
                <a:ea typeface="Arial"/>
                <a:cs typeface="Arial"/>
              </a:rPr>
              <a:t>Staff obtain the report and update</a:t>
            </a:r>
          </a:p>
          <a:p>
            <a:pPr>
              <a:defRPr sz="1875" b="0">
                <a:solidFill>
                  <a:srgbClr val="526D6C"/>
                </a:solidFill>
                <a:latin typeface="Arial"/>
                <a:ea typeface="Arial"/>
                <a:cs typeface="Arial"/>
              </a:defRPr>
            </a:pPr>
            <a:r>
              <a:rPr sz="1875" b="0">
                <a:solidFill>
                  <a:srgbClr val="526D6C"/>
                </a:solidFill>
                <a:latin typeface="Arial"/>
                <a:ea typeface="Arial"/>
                <a:cs typeface="Arial"/>
              </a:rPr>
              <a:t>the record and referral status.</a:t>
            </a:r>
          </a:p>
        </p:txBody>
      </p:sp>
    </p:spTree>
    <p:extLst>
      <p:ext uri="{BB962C8B-B14F-4D97-AF65-F5344CB8AC3E}">
        <p14:creationId xmlns:p14="http://schemas.microsoft.com/office/powerpoint/2010/main" val="985737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1" name="Continuity of care is the organizing principle">
            <a:extLst>
              <a:ext uri="{FF2B5EF4-FFF2-40B4-BE49-F238E27FC236}">
                <a16:creationId xmlns:a16="http://schemas.microsoft.com/office/drawing/2014/main" id="{0E0B7D98-1385-4FD8-B5B6-AFDD5D20F621}"/>
              </a:ext>
            </a:extLst>
          </p:cNvPr>
          <p:cNvSpPr>
            <a:spLocks noGrp="1"/>
          </p:cNvSpPr>
          <p:nvPr/>
        </p:nvSpPr>
        <p:spPr>
          <a:xfrm>
            <a:off x="685800" y="552450"/>
            <a:ext cx="10820400" cy="1009650"/>
          </a:xfrm>
          <a:prstGeom prst="rect">
            <a:avLst/>
          </a:prstGeom>
          <a:noFill/>
          <a:ln w="0">
            <a:noFill/>
          </a:ln>
        </p:spPr>
        <p:txBody>
          <a:bodyPr lIns="0" tIns="0" rIns="0" bIns="0" anchor="t">
            <a:noAutofit/>
          </a:bodyPr>
          <a:lstStyle/>
          <a:p>
            <a:pPr>
              <a:defRPr sz="3600" b="1">
                <a:solidFill>
                  <a:srgbClr val="143D40"/>
                </a:solidFill>
                <a:latin typeface="Arial"/>
                <a:ea typeface="Arial"/>
                <a:cs typeface="Arial"/>
              </a:defRPr>
            </a:pPr>
            <a:r>
              <a:rPr sz="3600" b="1">
                <a:solidFill>
                  <a:srgbClr val="143D40"/>
                </a:solidFill>
                <a:latin typeface="Arial"/>
                <a:ea typeface="Arial"/>
                <a:cs typeface="Arial"/>
              </a:rPr>
              <a:t>Continuity of care is the organizing principle</a:t>
            </a:r>
          </a:p>
        </p:txBody>
      </p:sp>
      <p:sp>
        <p:nvSpPr>
          <p:cNvPr id="2" name="05">
            <a:extLst>
              <a:ext uri="{FF2B5EF4-FFF2-40B4-BE49-F238E27FC236}">
                <a16:creationId xmlns:a16="http://schemas.microsoft.com/office/drawing/2014/main" id="{79945A55-6DDA-49E9-8EC9-DB91593C48AF}"/>
              </a:ext>
            </a:extLst>
          </p:cNvPr>
          <p:cNvSpPr>
            <a:spLocks noGrp="1"/>
          </p:cNvSpPr>
          <p:nvPr/>
        </p:nvSpPr>
        <p:spPr>
          <a:xfrm>
            <a:off x="10972800" y="6305550"/>
            <a:ext cx="523875" cy="266700"/>
          </a:xfrm>
          <a:prstGeom prst="rect">
            <a:avLst/>
          </a:prstGeom>
          <a:noFill/>
          <a:ln w="0">
            <a:noFill/>
          </a:ln>
        </p:spPr>
        <p:txBody>
          <a:bodyPr lIns="0" tIns="0" rIns="0" bIns="0" anchor="t">
            <a:noAutofit/>
          </a:bodyPr>
          <a:lstStyle/>
          <a:p>
            <a:pPr>
              <a:defRPr sz="1350" b="0">
                <a:solidFill>
                  <a:srgbClr val="526D6C"/>
                </a:solidFill>
                <a:latin typeface="Arial"/>
                <a:ea typeface="Arial"/>
                <a:cs typeface="Arial"/>
              </a:defRPr>
            </a:pPr>
            <a:r>
              <a:rPr sz="1350" b="0">
                <a:solidFill>
                  <a:srgbClr val="526D6C"/>
                </a:solidFill>
                <a:latin typeface="Arial"/>
                <a:ea typeface="Arial"/>
                <a:cs typeface="Arial"/>
              </a:rPr>
              <a:t>05</a:t>
            </a:r>
          </a:p>
        </p:txBody>
      </p:sp>
      <p:sp>
        <p:nvSpPr>
          <p:cNvPr id="3" name="Across the population">
            <a:extLst>
              <a:ext uri="{FF2B5EF4-FFF2-40B4-BE49-F238E27FC236}">
                <a16:creationId xmlns:a16="http://schemas.microsoft.com/office/drawing/2014/main" id="{323F3694-DD10-490F-820B-30D91B509530}"/>
              </a:ext>
            </a:extLst>
          </p:cNvPr>
          <p:cNvSpPr>
            <a:spLocks noGrp="1"/>
          </p:cNvSpPr>
          <p:nvPr/>
        </p:nvSpPr>
        <p:spPr>
          <a:xfrm>
            <a:off x="685800" y="1981200"/>
            <a:ext cx="4905375" cy="495300"/>
          </a:xfrm>
          <a:prstGeom prst="rect">
            <a:avLst/>
          </a:prstGeom>
          <a:noFill/>
          <a:ln w="0">
            <a:noFill/>
          </a:ln>
        </p:spPr>
        <p:txBody>
          <a:bodyPr lIns="0" tIns="0" rIns="0" bIns="0" anchor="t">
            <a:noAutofit/>
          </a:bodyPr>
          <a:lstStyle/>
          <a:p>
            <a:pPr>
              <a:defRPr sz="2475" b="1">
                <a:solidFill>
                  <a:srgbClr val="1D716A"/>
                </a:solidFill>
                <a:latin typeface="Arial"/>
                <a:ea typeface="Arial"/>
                <a:cs typeface="Arial"/>
              </a:defRPr>
            </a:pPr>
            <a:r>
              <a:rPr sz="2475" b="1">
                <a:solidFill>
                  <a:srgbClr val="1D716A"/>
                </a:solidFill>
                <a:latin typeface="Arial"/>
                <a:ea typeface="Arial"/>
                <a:cs typeface="Arial"/>
              </a:rPr>
              <a:t>Across the population</a:t>
            </a:r>
          </a:p>
        </p:txBody>
      </p:sp>
      <p:sp>
        <p:nvSpPr>
          <p:cNvPr id="4" name="Who needs attention today?">
            <a:extLst>
              <a:ext uri="{FF2B5EF4-FFF2-40B4-BE49-F238E27FC236}">
                <a16:creationId xmlns:a16="http://schemas.microsoft.com/office/drawing/2014/main" id="{CD27923D-10E0-4906-91BF-CDB892C8DBF7}"/>
              </a:ext>
            </a:extLst>
          </p:cNvPr>
          <p:cNvSpPr>
            <a:spLocks noGrp="1"/>
          </p:cNvSpPr>
          <p:nvPr/>
        </p:nvSpPr>
        <p:spPr>
          <a:xfrm>
            <a:off x="685800" y="2705100"/>
            <a:ext cx="4953000" cy="838200"/>
          </a:xfrm>
          <a:prstGeom prst="rect">
            <a:avLst/>
          </a:prstGeom>
          <a:noFill/>
          <a:ln w="0">
            <a:noFill/>
          </a:ln>
        </p:spPr>
        <p:txBody>
          <a:bodyPr lIns="0" tIns="0" rIns="0" bIns="0" anchor="t">
            <a:noAutofit/>
          </a:bodyPr>
          <a:lstStyle/>
          <a:p>
            <a:pPr>
              <a:defRPr sz="2850" b="1">
                <a:solidFill>
                  <a:srgbClr val="143D40"/>
                </a:solidFill>
                <a:latin typeface="Arial"/>
                <a:ea typeface="Arial"/>
                <a:cs typeface="Arial"/>
              </a:defRPr>
            </a:pPr>
            <a:r>
              <a:rPr sz="2850" b="1">
                <a:solidFill>
                  <a:srgbClr val="143D40"/>
                </a:solidFill>
                <a:latin typeface="Arial"/>
                <a:ea typeface="Arial"/>
                <a:cs typeface="Arial"/>
              </a:rPr>
              <a:t>Who needs attention today?</a:t>
            </a:r>
          </a:p>
        </p:txBody>
      </p:sp>
      <p:sp>
        <p:nvSpPr>
          <p:cNvPr id="5" name="A ranked worklist shows the reason&#10;for each alert acros">
            <a:extLst>
              <a:ext uri="{FF2B5EF4-FFF2-40B4-BE49-F238E27FC236}">
                <a16:creationId xmlns:a16="http://schemas.microsoft.com/office/drawing/2014/main" id="{9C4599C8-F34B-4791-A409-AA1F12DCAEC5}"/>
              </a:ext>
            </a:extLst>
          </p:cNvPr>
          <p:cNvSpPr>
            <a:spLocks noGrp="1"/>
          </p:cNvSpPr>
          <p:nvPr/>
        </p:nvSpPr>
        <p:spPr>
          <a:xfrm>
            <a:off x="685800" y="3733800"/>
            <a:ext cx="4905375" cy="1000125"/>
          </a:xfrm>
          <a:prstGeom prst="rect">
            <a:avLst/>
          </a:prstGeom>
          <a:noFill/>
          <a:ln w="0">
            <a:noFill/>
          </a:ln>
        </p:spPr>
        <p:txBody>
          <a:bodyPr lIns="0" tIns="0" rIns="0" bIns="0" anchor="t">
            <a:noAutofit/>
          </a:bodyPr>
          <a:lstStyle/>
          <a:p>
            <a:pPr>
              <a:defRPr sz="2025" b="0">
                <a:solidFill>
                  <a:srgbClr val="526D6C"/>
                </a:solidFill>
                <a:latin typeface="Arial"/>
                <a:ea typeface="Arial"/>
                <a:cs typeface="Arial"/>
              </a:defRPr>
            </a:pPr>
            <a:r>
              <a:rPr sz="2025" b="0" dirty="0">
                <a:solidFill>
                  <a:srgbClr val="526D6C"/>
                </a:solidFill>
                <a:latin typeface="Arial"/>
                <a:ea typeface="Arial"/>
                <a:cs typeface="Arial"/>
              </a:rPr>
              <a:t>A ranked worklist shows the reason</a:t>
            </a:r>
          </a:p>
          <a:p>
            <a:pPr>
              <a:defRPr sz="2025" b="0">
                <a:solidFill>
                  <a:srgbClr val="526D6C"/>
                </a:solidFill>
                <a:latin typeface="Arial"/>
                <a:ea typeface="Arial"/>
                <a:cs typeface="Arial"/>
              </a:defRPr>
            </a:pPr>
            <a:r>
              <a:rPr sz="2025" b="0" dirty="0">
                <a:solidFill>
                  <a:srgbClr val="526D6C"/>
                </a:solidFill>
                <a:latin typeface="Arial"/>
                <a:ea typeface="Arial"/>
                <a:cs typeface="Arial"/>
              </a:rPr>
              <a:t>for each alert across disease registries.</a:t>
            </a:r>
          </a:p>
        </p:txBody>
      </p:sp>
      <p:sp>
        <p:nvSpPr>
          <p:cNvPr id="6" name="Within each patient’s journey">
            <a:extLst>
              <a:ext uri="{FF2B5EF4-FFF2-40B4-BE49-F238E27FC236}">
                <a16:creationId xmlns:a16="http://schemas.microsoft.com/office/drawing/2014/main" id="{CCF3A665-0789-4D70-9D13-A91998A6C5F8}"/>
              </a:ext>
            </a:extLst>
          </p:cNvPr>
          <p:cNvSpPr>
            <a:spLocks noGrp="1"/>
          </p:cNvSpPr>
          <p:nvPr/>
        </p:nvSpPr>
        <p:spPr>
          <a:xfrm>
            <a:off x="6705600" y="1981200"/>
            <a:ext cx="4857750" cy="495300"/>
          </a:xfrm>
          <a:prstGeom prst="rect">
            <a:avLst/>
          </a:prstGeom>
          <a:noFill/>
          <a:ln w="0">
            <a:noFill/>
          </a:ln>
        </p:spPr>
        <p:txBody>
          <a:bodyPr lIns="0" tIns="0" rIns="0" bIns="0" anchor="t">
            <a:noAutofit/>
          </a:bodyPr>
          <a:lstStyle/>
          <a:p>
            <a:pPr>
              <a:defRPr sz="2475" b="1">
                <a:solidFill>
                  <a:srgbClr val="1D716A"/>
                </a:solidFill>
                <a:latin typeface="Arial"/>
                <a:ea typeface="Arial"/>
                <a:cs typeface="Arial"/>
              </a:defRPr>
            </a:pPr>
            <a:r>
              <a:rPr sz="2475" b="1">
                <a:solidFill>
                  <a:srgbClr val="1D716A"/>
                </a:solidFill>
                <a:latin typeface="Arial"/>
                <a:ea typeface="Arial"/>
                <a:cs typeface="Arial"/>
              </a:rPr>
              <a:t>Within each patient’s journey</a:t>
            </a:r>
          </a:p>
        </p:txBody>
      </p:sp>
      <p:sp>
        <p:nvSpPr>
          <p:cNvPr id="7" name="What remains unfinished?">
            <a:extLst>
              <a:ext uri="{FF2B5EF4-FFF2-40B4-BE49-F238E27FC236}">
                <a16:creationId xmlns:a16="http://schemas.microsoft.com/office/drawing/2014/main" id="{41492EC2-E1BF-458C-9280-5B766D4E6CDC}"/>
              </a:ext>
            </a:extLst>
          </p:cNvPr>
          <p:cNvSpPr>
            <a:spLocks noGrp="1"/>
          </p:cNvSpPr>
          <p:nvPr/>
        </p:nvSpPr>
        <p:spPr>
          <a:xfrm>
            <a:off x="6705600" y="2705100"/>
            <a:ext cx="4857750" cy="838200"/>
          </a:xfrm>
          <a:prstGeom prst="rect">
            <a:avLst/>
          </a:prstGeom>
          <a:noFill/>
          <a:ln w="0">
            <a:noFill/>
          </a:ln>
        </p:spPr>
        <p:txBody>
          <a:bodyPr lIns="0" tIns="0" rIns="0" bIns="0" anchor="t">
            <a:noAutofit/>
          </a:bodyPr>
          <a:lstStyle/>
          <a:p>
            <a:pPr>
              <a:defRPr sz="2850" b="1">
                <a:solidFill>
                  <a:srgbClr val="143D40"/>
                </a:solidFill>
                <a:latin typeface="Arial"/>
                <a:ea typeface="Arial"/>
                <a:cs typeface="Arial"/>
              </a:defRPr>
            </a:pPr>
            <a:r>
              <a:rPr sz="2850" b="1" dirty="0">
                <a:solidFill>
                  <a:srgbClr val="143D40"/>
                </a:solidFill>
                <a:latin typeface="Arial"/>
                <a:ea typeface="Arial"/>
                <a:cs typeface="Arial"/>
              </a:rPr>
              <a:t>What remains unfinished?</a:t>
            </a:r>
          </a:p>
        </p:txBody>
      </p:sp>
      <p:sp>
        <p:nvSpPr>
          <p:cNvPr id="8" name="Eight stages connect screening,&#10;investigations, referra">
            <a:extLst>
              <a:ext uri="{FF2B5EF4-FFF2-40B4-BE49-F238E27FC236}">
                <a16:creationId xmlns:a16="http://schemas.microsoft.com/office/drawing/2014/main" id="{8ABE6EDF-9C7C-4519-A8B9-A0F9F6F2C94E}"/>
              </a:ext>
            </a:extLst>
          </p:cNvPr>
          <p:cNvSpPr>
            <a:spLocks noGrp="1"/>
          </p:cNvSpPr>
          <p:nvPr/>
        </p:nvSpPr>
        <p:spPr>
          <a:xfrm>
            <a:off x="6705600" y="3733800"/>
            <a:ext cx="4857750" cy="1000125"/>
          </a:xfrm>
          <a:prstGeom prst="rect">
            <a:avLst/>
          </a:prstGeom>
          <a:noFill/>
          <a:ln w="0">
            <a:noFill/>
          </a:ln>
        </p:spPr>
        <p:txBody>
          <a:bodyPr lIns="0" tIns="0" rIns="0" bIns="0" anchor="t">
            <a:noAutofit/>
          </a:bodyPr>
          <a:lstStyle/>
          <a:p>
            <a:pPr>
              <a:defRPr sz="2025" b="0">
                <a:solidFill>
                  <a:srgbClr val="526D6C"/>
                </a:solidFill>
                <a:latin typeface="Arial"/>
                <a:ea typeface="Arial"/>
                <a:cs typeface="Arial"/>
              </a:defRPr>
            </a:pPr>
            <a:r>
              <a:rPr sz="2025" b="0">
                <a:solidFill>
                  <a:srgbClr val="526D6C"/>
                </a:solidFill>
                <a:latin typeface="Arial"/>
                <a:ea typeface="Arial"/>
                <a:cs typeface="Arial"/>
              </a:rPr>
              <a:t>Eight stages connect screening,</a:t>
            </a:r>
          </a:p>
          <a:p>
            <a:pPr>
              <a:defRPr sz="2025" b="0">
                <a:solidFill>
                  <a:srgbClr val="526D6C"/>
                </a:solidFill>
                <a:latin typeface="Arial"/>
                <a:ea typeface="Arial"/>
                <a:cs typeface="Arial"/>
              </a:defRPr>
            </a:pPr>
            <a:r>
              <a:rPr sz="2025" b="0">
                <a:solidFill>
                  <a:srgbClr val="526D6C"/>
                </a:solidFill>
                <a:latin typeface="Arial"/>
                <a:ea typeface="Arial"/>
                <a:cs typeface="Arial"/>
              </a:rPr>
              <a:t>investigations, referrals and follow-up.</a:t>
            </a:r>
          </a:p>
        </p:txBody>
      </p:sp>
      <p:sp>
        <p:nvSpPr>
          <p:cNvPr id="9" name="Supporting tools: registry queries, a 3D Cancer Atlas a">
            <a:extLst>
              <a:ext uri="{FF2B5EF4-FFF2-40B4-BE49-F238E27FC236}">
                <a16:creationId xmlns:a16="http://schemas.microsoft.com/office/drawing/2014/main" id="{5CA32426-D8CD-431C-9C9D-5A9DDAD20E79}"/>
              </a:ext>
            </a:extLst>
          </p:cNvPr>
          <p:cNvSpPr>
            <a:spLocks noGrp="1"/>
          </p:cNvSpPr>
          <p:nvPr/>
        </p:nvSpPr>
        <p:spPr>
          <a:xfrm>
            <a:off x="685800" y="5400675"/>
            <a:ext cx="10820400" cy="619125"/>
          </a:xfrm>
          <a:prstGeom prst="rect">
            <a:avLst/>
          </a:prstGeom>
          <a:noFill/>
          <a:ln w="0">
            <a:noFill/>
          </a:ln>
        </p:spPr>
        <p:txBody>
          <a:bodyPr lIns="0" tIns="0" rIns="0" bIns="0" anchor="t">
            <a:noAutofit/>
          </a:bodyPr>
          <a:lstStyle/>
          <a:p>
            <a:pPr>
              <a:defRPr sz="1875" b="0">
                <a:solidFill>
                  <a:srgbClr val="143D40"/>
                </a:solidFill>
                <a:latin typeface="Arial"/>
                <a:ea typeface="Arial"/>
                <a:cs typeface="Arial"/>
              </a:defRPr>
            </a:pPr>
            <a:r>
              <a:rPr sz="1875" b="0">
                <a:solidFill>
                  <a:srgbClr val="143D40"/>
                </a:solidFill>
                <a:latin typeface="Arial"/>
                <a:ea typeface="Arial"/>
                <a:cs typeface="Arial"/>
              </a:rPr>
              <a:t>Supporting tools: registry queries, a 3D Cancer Atlas and a research Prediction Lab.</a:t>
            </a:r>
          </a:p>
        </p:txBody>
      </p:sp>
      <p:sp>
        <p:nvSpPr>
          <p:cNvPr id="10" name="Prediction outputs require clinical validation before u">
            <a:extLst>
              <a:ext uri="{FF2B5EF4-FFF2-40B4-BE49-F238E27FC236}">
                <a16:creationId xmlns:a16="http://schemas.microsoft.com/office/drawing/2014/main" id="{01F91C14-FE1E-49D2-AD5E-887C89468583}"/>
              </a:ext>
            </a:extLst>
          </p:cNvPr>
          <p:cNvSpPr>
            <a:spLocks noGrp="1"/>
          </p:cNvSpPr>
          <p:nvPr/>
        </p:nvSpPr>
        <p:spPr>
          <a:xfrm>
            <a:off x="685800" y="6057900"/>
            <a:ext cx="10001250" cy="333375"/>
          </a:xfrm>
          <a:prstGeom prst="rect">
            <a:avLst/>
          </a:prstGeom>
          <a:noFill/>
          <a:ln w="0">
            <a:noFill/>
          </a:ln>
        </p:spPr>
        <p:txBody>
          <a:bodyPr lIns="0" tIns="0" rIns="0" bIns="0" anchor="t">
            <a:noAutofit/>
          </a:bodyPr>
          <a:lstStyle/>
          <a:p>
            <a:pPr>
              <a:defRPr sz="1500" b="0">
                <a:solidFill>
                  <a:srgbClr val="526D6C"/>
                </a:solidFill>
                <a:latin typeface="Arial"/>
                <a:ea typeface="Arial"/>
                <a:cs typeface="Arial"/>
              </a:defRPr>
            </a:pPr>
            <a:r>
              <a:rPr sz="1500" b="0">
                <a:solidFill>
                  <a:srgbClr val="526D6C"/>
                </a:solidFill>
                <a:latin typeface="Arial"/>
                <a:ea typeface="Arial"/>
                <a:cs typeface="Arial"/>
              </a:rPr>
              <a:t>Prediction outputs require clinical validation before use in care decisions.</a:t>
            </a:r>
          </a:p>
        </p:txBody>
      </p:sp>
    </p:spTree>
    <p:extLst>
      <p:ext uri="{BB962C8B-B14F-4D97-AF65-F5344CB8AC3E}">
        <p14:creationId xmlns:p14="http://schemas.microsoft.com/office/powerpoint/2010/main" val="1662491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5" name="Technology and data flow">
            <a:extLst>
              <a:ext uri="{FF2B5EF4-FFF2-40B4-BE49-F238E27FC236}">
                <a16:creationId xmlns:a16="http://schemas.microsoft.com/office/drawing/2014/main" id="{7BBA4FE6-1F5C-444B-A477-A24A645F76D4}"/>
              </a:ext>
            </a:extLst>
          </p:cNvPr>
          <p:cNvSpPr>
            <a:spLocks noGrp="1"/>
          </p:cNvSpPr>
          <p:nvPr/>
        </p:nvSpPr>
        <p:spPr>
          <a:xfrm>
            <a:off x="685800" y="552450"/>
            <a:ext cx="10820400" cy="1009650"/>
          </a:xfrm>
          <a:prstGeom prst="rect">
            <a:avLst/>
          </a:prstGeom>
          <a:noFill/>
          <a:ln w="0">
            <a:noFill/>
          </a:ln>
        </p:spPr>
        <p:txBody>
          <a:bodyPr lIns="0" tIns="0" rIns="0" bIns="0" anchor="t">
            <a:noAutofit/>
          </a:bodyPr>
          <a:lstStyle/>
          <a:p>
            <a:pPr>
              <a:defRPr sz="3600" b="1">
                <a:solidFill>
                  <a:srgbClr val="143D40"/>
                </a:solidFill>
                <a:latin typeface="Arial"/>
                <a:ea typeface="Arial"/>
                <a:cs typeface="Arial"/>
              </a:defRPr>
            </a:pPr>
            <a:r>
              <a:rPr sz="3600" b="1">
                <a:solidFill>
                  <a:srgbClr val="143D40"/>
                </a:solidFill>
                <a:latin typeface="Arial"/>
                <a:ea typeface="Arial"/>
                <a:cs typeface="Arial"/>
              </a:rPr>
              <a:t>Technology and data flow</a:t>
            </a:r>
          </a:p>
        </p:txBody>
      </p:sp>
      <p:sp>
        <p:nvSpPr>
          <p:cNvPr id="2" name="06">
            <a:extLst>
              <a:ext uri="{FF2B5EF4-FFF2-40B4-BE49-F238E27FC236}">
                <a16:creationId xmlns:a16="http://schemas.microsoft.com/office/drawing/2014/main" id="{37192851-324D-4B34-A6CE-AAE589FD8514}"/>
              </a:ext>
            </a:extLst>
          </p:cNvPr>
          <p:cNvSpPr>
            <a:spLocks noGrp="1"/>
          </p:cNvSpPr>
          <p:nvPr/>
        </p:nvSpPr>
        <p:spPr>
          <a:xfrm>
            <a:off x="10972800" y="6305550"/>
            <a:ext cx="523875" cy="266700"/>
          </a:xfrm>
          <a:prstGeom prst="rect">
            <a:avLst/>
          </a:prstGeom>
          <a:noFill/>
          <a:ln w="0">
            <a:noFill/>
          </a:ln>
        </p:spPr>
        <p:txBody>
          <a:bodyPr lIns="0" tIns="0" rIns="0" bIns="0" anchor="t">
            <a:noAutofit/>
          </a:bodyPr>
          <a:lstStyle/>
          <a:p>
            <a:pPr>
              <a:defRPr sz="1350" b="0">
                <a:solidFill>
                  <a:srgbClr val="526D6C"/>
                </a:solidFill>
                <a:latin typeface="Arial"/>
                <a:ea typeface="Arial"/>
                <a:cs typeface="Arial"/>
              </a:defRPr>
            </a:pPr>
            <a:r>
              <a:rPr sz="1350" b="0">
                <a:solidFill>
                  <a:srgbClr val="526D6C"/>
                </a:solidFill>
                <a:latin typeface="Arial"/>
                <a:ea typeface="Arial"/>
                <a:cs typeface="Arial"/>
              </a:rPr>
              <a:t>06</a:t>
            </a:r>
          </a:p>
        </p:txBody>
      </p:sp>
      <p:graphicFrame>
        <p:nvGraphicFramePr>
          <p:cNvPr id="7" name="Table 6"/>
          <p:cNvGraphicFramePr/>
          <p:nvPr/>
        </p:nvGraphicFramePr>
        <p:xfrm>
          <a:off x="685800" y="1866900"/>
          <a:ext cx="10820400" cy="3648075"/>
        </p:xfrm>
        <a:graphic>
          <a:graphicData uri="http://schemas.openxmlformats.org/drawingml/2006/table">
            <a:tbl>
              <a:tblPr/>
              <a:tblGrid>
                <a:gridCol w="2428875">
                  <a:extLst>
                    <a:ext uri="{9D8B030D-6E8A-4147-A177-3AD203B41FA5}">
                      <a16:colId xmlns:a16="http://schemas.microsoft.com/office/drawing/2014/main" val="20000"/>
                    </a:ext>
                  </a:extLst>
                </a:gridCol>
                <a:gridCol w="3686175">
                  <a:extLst>
                    <a:ext uri="{9D8B030D-6E8A-4147-A177-3AD203B41FA5}">
                      <a16:colId xmlns:a16="http://schemas.microsoft.com/office/drawing/2014/main" val="20001"/>
                    </a:ext>
                  </a:extLst>
                </a:gridCol>
                <a:gridCol w="4705350">
                  <a:extLst>
                    <a:ext uri="{9D8B030D-6E8A-4147-A177-3AD203B41FA5}">
                      <a16:colId xmlns:a16="http://schemas.microsoft.com/office/drawing/2014/main" val="20002"/>
                    </a:ext>
                  </a:extLst>
                </a:gridCol>
              </a:tblGrid>
              <a:tr h="552450">
                <a:tc>
                  <a:txBody>
                    <a:bodyPr/>
                    <a:lstStyle/>
                    <a:p>
                      <a:r>
                        <a:rPr sz="1650" b="1">
                          <a:solidFill>
                            <a:srgbClr val="143D40"/>
                          </a:solidFill>
                          <a:latin typeface="Arial"/>
                          <a:ea typeface="Arial"/>
                          <a:cs typeface="Arial"/>
                        </a:rPr>
                        <a:t>Layer</a:t>
                      </a:r>
                    </a:p>
                  </a:txBody>
                  <a:tcPr marL="171450" marR="171450" marT="133350" marB="114300" anchor="ctr">
                    <a:solidFill>
                      <a:srgbClr val="E6EDE4"/>
                    </a:solidFill>
                  </a:tcPr>
                </a:tc>
                <a:tc>
                  <a:txBody>
                    <a:bodyPr/>
                    <a:lstStyle/>
                    <a:p>
                      <a:r>
                        <a:rPr sz="1650" b="1">
                          <a:solidFill>
                            <a:srgbClr val="143D40"/>
                          </a:solidFill>
                          <a:latin typeface="Arial"/>
                          <a:ea typeface="Arial"/>
                          <a:cs typeface="Arial"/>
                        </a:rPr>
                        <a:t>Technology</a:t>
                      </a:r>
                    </a:p>
                  </a:txBody>
                  <a:tcPr marL="171450" marR="171450" marT="133350" marB="114300" anchor="ctr">
                    <a:solidFill>
                      <a:srgbClr val="E6EDE4"/>
                    </a:solidFill>
                  </a:tcPr>
                </a:tc>
                <a:tc>
                  <a:txBody>
                    <a:bodyPr/>
                    <a:lstStyle/>
                    <a:p>
                      <a:r>
                        <a:rPr sz="1650" b="1">
                          <a:solidFill>
                            <a:srgbClr val="143D40"/>
                          </a:solidFill>
                          <a:latin typeface="Arial"/>
                          <a:ea typeface="Arial"/>
                          <a:cs typeface="Arial"/>
                        </a:rPr>
                        <a:t>Role</a:t>
                      </a:r>
                    </a:p>
                  </a:txBody>
                  <a:tcPr marL="171450" marR="171450" marT="133350" marB="114300" anchor="ctr">
                    <a:solidFill>
                      <a:srgbClr val="E6EDE4"/>
                    </a:solidFill>
                  </a:tcPr>
                </a:tc>
                <a:extLst>
                  <a:ext uri="{0D108BD9-81ED-4DB2-BD59-A6C34878D82A}">
                    <a16:rowId xmlns:a16="http://schemas.microsoft.com/office/drawing/2014/main" val="10000"/>
                  </a:ext>
                </a:extLst>
              </a:tr>
              <a:tr h="619125">
                <a:tc>
                  <a:txBody>
                    <a:bodyPr/>
                    <a:lstStyle/>
                    <a:p>
                      <a:r>
                        <a:rPr sz="1800" b="0">
                          <a:solidFill>
                            <a:srgbClr val="143D40"/>
                          </a:solidFill>
                          <a:latin typeface="Arial"/>
                          <a:ea typeface="Arial"/>
                          <a:cs typeface="Arial"/>
                        </a:rPr>
                        <a:t>Interface</a:t>
                      </a:r>
                    </a:p>
                  </a:txBody>
                  <a:tcPr marL="171450" marR="171450" marT="133350" marB="114300" anchor="ctr">
                    <a:solidFill>
                      <a:srgbClr val="F7F5EF"/>
                    </a:solidFill>
                  </a:tcPr>
                </a:tc>
                <a:tc>
                  <a:txBody>
                    <a:bodyPr/>
                    <a:lstStyle/>
                    <a:p>
                      <a:r>
                        <a:rPr sz="1800" b="0">
                          <a:solidFill>
                            <a:srgbClr val="143D40"/>
                          </a:solidFill>
                          <a:latin typeface="Arial"/>
                          <a:ea typeface="Arial"/>
                          <a:cs typeface="Arial"/>
                        </a:rPr>
                        <a:t>React, Vite, Three.js</a:t>
                      </a:r>
                    </a:p>
                  </a:txBody>
                  <a:tcPr marL="171450" marR="171450" marT="133350" marB="114300" anchor="ctr">
                    <a:solidFill>
                      <a:srgbClr val="F7F5EF"/>
                    </a:solidFill>
                  </a:tcPr>
                </a:tc>
                <a:tc>
                  <a:txBody>
                    <a:bodyPr/>
                    <a:lstStyle/>
                    <a:p>
                      <a:r>
                        <a:rPr sz="1800" b="0">
                          <a:solidFill>
                            <a:srgbClr val="143D40"/>
                          </a:solidFill>
                          <a:latin typeface="Arial"/>
                          <a:ea typeface="Arial"/>
                          <a:cs typeface="Arial"/>
                        </a:rPr>
                        <a:t>Clinical forms and 3D views</a:t>
                      </a:r>
                    </a:p>
                  </a:txBody>
                  <a:tcPr marL="171450" marR="171450" marT="133350" marB="114300" anchor="ctr">
                    <a:solidFill>
                      <a:srgbClr val="F7F5EF"/>
                    </a:solidFill>
                  </a:tcPr>
                </a:tc>
                <a:extLst>
                  <a:ext uri="{0D108BD9-81ED-4DB2-BD59-A6C34878D82A}">
                    <a16:rowId xmlns:a16="http://schemas.microsoft.com/office/drawing/2014/main" val="10001"/>
                  </a:ext>
                </a:extLst>
              </a:tr>
              <a:tr h="619125">
                <a:tc>
                  <a:txBody>
                    <a:bodyPr/>
                    <a:lstStyle/>
                    <a:p>
                      <a:r>
                        <a:rPr sz="1800" b="0">
                          <a:solidFill>
                            <a:srgbClr val="143D40"/>
                          </a:solidFill>
                          <a:latin typeface="Arial"/>
                          <a:ea typeface="Arial"/>
                          <a:cs typeface="Arial"/>
                        </a:rPr>
                        <a:t>Clinical API</a:t>
                      </a:r>
                    </a:p>
                  </a:txBody>
                  <a:tcPr marL="171450" marR="171450" marT="133350" marB="114300" anchor="ctr">
                    <a:solidFill>
                      <a:srgbClr val="F7F5EF"/>
                    </a:solidFill>
                  </a:tcPr>
                </a:tc>
                <a:tc>
                  <a:txBody>
                    <a:bodyPr/>
                    <a:lstStyle/>
                    <a:p>
                      <a:r>
                        <a:rPr sz="1800" b="0">
                          <a:solidFill>
                            <a:srgbClr val="143D40"/>
                          </a:solidFill>
                          <a:latin typeface="Arial"/>
                          <a:ea typeface="Arial"/>
                          <a:cs typeface="Arial"/>
                        </a:rPr>
                        <a:t>FastAPI, Python</a:t>
                      </a:r>
                    </a:p>
                  </a:txBody>
                  <a:tcPr marL="171450" marR="171450" marT="133350" marB="114300" anchor="ctr">
                    <a:solidFill>
                      <a:srgbClr val="F7F5EF"/>
                    </a:solidFill>
                  </a:tcPr>
                </a:tc>
                <a:tc>
                  <a:txBody>
                    <a:bodyPr/>
                    <a:lstStyle/>
                    <a:p>
                      <a:r>
                        <a:rPr sz="1800" b="0">
                          <a:solidFill>
                            <a:srgbClr val="143D40"/>
                          </a:solidFill>
                          <a:latin typeface="Arial"/>
                          <a:ea typeface="Arial"/>
                          <a:cs typeface="Arial"/>
                        </a:rPr>
                        <a:t>Records and care-gap rules</a:t>
                      </a:r>
                    </a:p>
                  </a:txBody>
                  <a:tcPr marL="171450" marR="171450" marT="133350" marB="114300" anchor="ctr">
                    <a:solidFill>
                      <a:srgbClr val="F7F5EF"/>
                    </a:solidFill>
                  </a:tcPr>
                </a:tc>
                <a:extLst>
                  <a:ext uri="{0D108BD9-81ED-4DB2-BD59-A6C34878D82A}">
                    <a16:rowId xmlns:a16="http://schemas.microsoft.com/office/drawing/2014/main" val="10002"/>
                  </a:ext>
                </a:extLst>
              </a:tr>
              <a:tr h="619125">
                <a:tc>
                  <a:txBody>
                    <a:bodyPr/>
                    <a:lstStyle/>
                    <a:p>
                      <a:r>
                        <a:rPr sz="1800" b="0">
                          <a:solidFill>
                            <a:srgbClr val="143D40"/>
                          </a:solidFill>
                          <a:latin typeface="Arial"/>
                          <a:ea typeface="Arial"/>
                          <a:cs typeface="Arial"/>
                        </a:rPr>
                        <a:t>Data and identity</a:t>
                      </a:r>
                    </a:p>
                  </a:txBody>
                  <a:tcPr marL="171450" marR="171450" marT="133350" marB="114300" anchor="ctr">
                    <a:solidFill>
                      <a:srgbClr val="F7F5EF"/>
                    </a:solidFill>
                  </a:tcPr>
                </a:tc>
                <a:tc>
                  <a:txBody>
                    <a:bodyPr/>
                    <a:lstStyle/>
                    <a:p>
                      <a:r>
                        <a:rPr sz="1800" b="0">
                          <a:solidFill>
                            <a:srgbClr val="143D40"/>
                          </a:solidFill>
                          <a:latin typeface="Arial"/>
                          <a:ea typeface="Arial"/>
                          <a:cs typeface="Arial"/>
                        </a:rPr>
                        <a:t>PostgreSQL, Google sign-in</a:t>
                      </a:r>
                    </a:p>
                  </a:txBody>
                  <a:tcPr marL="171450" marR="171450" marT="133350" marB="114300" anchor="ctr">
                    <a:solidFill>
                      <a:srgbClr val="F7F5EF"/>
                    </a:solidFill>
                  </a:tcPr>
                </a:tc>
                <a:tc>
                  <a:txBody>
                    <a:bodyPr/>
                    <a:lstStyle/>
                    <a:p>
                      <a:r>
                        <a:rPr sz="1800" b="0">
                          <a:solidFill>
                            <a:srgbClr val="143D40"/>
                          </a:solidFill>
                          <a:latin typeface="Arial"/>
                          <a:ea typeface="Arial"/>
                          <a:cs typeface="Arial"/>
                        </a:rPr>
                        <a:t>Persistent records and sign-in</a:t>
                      </a:r>
                    </a:p>
                  </a:txBody>
                  <a:tcPr marL="171450" marR="171450" marT="133350" marB="114300" anchor="ctr">
                    <a:solidFill>
                      <a:srgbClr val="F7F5EF"/>
                    </a:solidFill>
                  </a:tcPr>
                </a:tc>
                <a:extLst>
                  <a:ext uri="{0D108BD9-81ED-4DB2-BD59-A6C34878D82A}">
                    <a16:rowId xmlns:a16="http://schemas.microsoft.com/office/drawing/2014/main" val="10003"/>
                  </a:ext>
                </a:extLst>
              </a:tr>
              <a:tr h="619125">
                <a:tc>
                  <a:txBody>
                    <a:bodyPr/>
                    <a:lstStyle/>
                    <a:p>
                      <a:r>
                        <a:rPr sz="1800" b="0">
                          <a:solidFill>
                            <a:srgbClr val="143D40"/>
                          </a:solidFill>
                          <a:latin typeface="Arial"/>
                          <a:ea typeface="Arial"/>
                          <a:cs typeface="Arial"/>
                        </a:rPr>
                        <a:t>Research models</a:t>
                      </a:r>
                    </a:p>
                  </a:txBody>
                  <a:tcPr marL="171450" marR="171450" marT="133350" marB="114300" anchor="ctr">
                    <a:solidFill>
                      <a:srgbClr val="F7F5EF"/>
                    </a:solidFill>
                  </a:tcPr>
                </a:tc>
                <a:tc>
                  <a:txBody>
                    <a:bodyPr/>
                    <a:lstStyle/>
                    <a:p>
                      <a:r>
                        <a:rPr sz="1800" b="0">
                          <a:solidFill>
                            <a:srgbClr val="143D40"/>
                          </a:solidFill>
                          <a:latin typeface="Arial"/>
                          <a:ea typeface="Arial"/>
                          <a:cs typeface="Arial"/>
                        </a:rPr>
                        <a:t>scikit-learn</a:t>
                      </a:r>
                    </a:p>
                  </a:txBody>
                  <a:tcPr marL="171450" marR="171450" marT="133350" marB="114300" anchor="ctr">
                    <a:solidFill>
                      <a:srgbClr val="F7F5EF"/>
                    </a:solidFill>
                  </a:tcPr>
                </a:tc>
                <a:tc>
                  <a:txBody>
                    <a:bodyPr/>
                    <a:lstStyle/>
                    <a:p>
                      <a:r>
                        <a:rPr sz="1800" b="0">
                          <a:solidFill>
                            <a:srgbClr val="143D40"/>
                          </a:solidFill>
                          <a:latin typeface="Arial"/>
                          <a:ea typeface="Arial"/>
                          <a:cs typeface="Arial"/>
                        </a:rPr>
                        <a:t>Gradient Boosting classifiers</a:t>
                      </a:r>
                    </a:p>
                  </a:txBody>
                  <a:tcPr marL="171450" marR="171450" marT="133350" marB="114300" anchor="ctr">
                    <a:solidFill>
                      <a:srgbClr val="F7F5EF"/>
                    </a:solidFill>
                  </a:tcPr>
                </a:tc>
                <a:extLst>
                  <a:ext uri="{0D108BD9-81ED-4DB2-BD59-A6C34878D82A}">
                    <a16:rowId xmlns:a16="http://schemas.microsoft.com/office/drawing/2014/main" val="10004"/>
                  </a:ext>
                </a:extLst>
              </a:tr>
              <a:tr h="619125">
                <a:tc>
                  <a:txBody>
                    <a:bodyPr/>
                    <a:lstStyle/>
                    <a:p>
                      <a:r>
                        <a:rPr sz="1800" b="0">
                          <a:solidFill>
                            <a:srgbClr val="143D40"/>
                          </a:solidFill>
                          <a:latin typeface="Arial"/>
                          <a:ea typeface="Arial"/>
                          <a:cs typeface="Arial"/>
                        </a:rPr>
                        <a:t>Deployment</a:t>
                      </a:r>
                    </a:p>
                  </a:txBody>
                  <a:tcPr marL="171450" marR="171450" marT="133350" marB="114300" anchor="ctr">
                    <a:solidFill>
                      <a:srgbClr val="F7F5EF"/>
                    </a:solidFill>
                  </a:tcPr>
                </a:tc>
                <a:tc>
                  <a:txBody>
                    <a:bodyPr/>
                    <a:lstStyle/>
                    <a:p>
                      <a:r>
                        <a:rPr sz="1800" b="0">
                          <a:solidFill>
                            <a:srgbClr val="143D40"/>
                          </a:solidFill>
                          <a:latin typeface="Arial"/>
                          <a:ea typeface="Arial"/>
                          <a:cs typeface="Arial"/>
                        </a:rPr>
                        <a:t>Docker, Nginx, Cloud Run</a:t>
                      </a:r>
                    </a:p>
                  </a:txBody>
                  <a:tcPr marL="171450" marR="171450" marT="133350" marB="114300" anchor="ctr">
                    <a:solidFill>
                      <a:srgbClr val="F7F5EF"/>
                    </a:solidFill>
                  </a:tcPr>
                </a:tc>
                <a:tc>
                  <a:txBody>
                    <a:bodyPr/>
                    <a:lstStyle/>
                    <a:p>
                      <a:r>
                        <a:rPr sz="1800" b="0">
                          <a:solidFill>
                            <a:srgbClr val="143D40"/>
                          </a:solidFill>
                          <a:latin typeface="Arial"/>
                          <a:ea typeface="Arial"/>
                          <a:cs typeface="Arial"/>
                        </a:rPr>
                        <a:t>Containerized cloud deployment</a:t>
                      </a:r>
                    </a:p>
                  </a:txBody>
                  <a:tcPr marL="171450" marR="171450" marT="133350" marB="114300" anchor="ctr">
                    <a:solidFill>
                      <a:srgbClr val="F7F5EF"/>
                    </a:solidFill>
                  </a:tcPr>
                </a:tc>
                <a:extLst>
                  <a:ext uri="{0D108BD9-81ED-4DB2-BD59-A6C34878D82A}">
                    <a16:rowId xmlns:a16="http://schemas.microsoft.com/office/drawing/2014/main" val="10005"/>
                  </a:ext>
                </a:extLst>
              </a:tr>
            </a:tbl>
          </a:graphicData>
        </a:graphic>
      </p:graphicFrame>
      <p:sp>
        <p:nvSpPr>
          <p:cNvPr id="4" name="Records enter through the API. Rules compute the journe">
            <a:extLst>
              <a:ext uri="{FF2B5EF4-FFF2-40B4-BE49-F238E27FC236}">
                <a16:creationId xmlns:a16="http://schemas.microsoft.com/office/drawing/2014/main" id="{23E55B9C-3FAB-4996-A6C5-F877C0083D5C}"/>
              </a:ext>
            </a:extLst>
          </p:cNvPr>
          <p:cNvSpPr>
            <a:spLocks noGrp="1"/>
          </p:cNvSpPr>
          <p:nvPr/>
        </p:nvSpPr>
        <p:spPr>
          <a:xfrm>
            <a:off x="685800" y="5867400"/>
            <a:ext cx="10287000" cy="542925"/>
          </a:xfrm>
          <a:prstGeom prst="rect">
            <a:avLst/>
          </a:prstGeom>
          <a:noFill/>
          <a:ln w="0">
            <a:noFill/>
          </a:ln>
        </p:spPr>
        <p:txBody>
          <a:bodyPr lIns="0" tIns="0" rIns="0" bIns="0" anchor="t">
            <a:noAutofit/>
          </a:bodyPr>
          <a:lstStyle/>
          <a:p>
            <a:pPr>
              <a:defRPr sz="1725" b="0">
                <a:solidFill>
                  <a:srgbClr val="526D6C"/>
                </a:solidFill>
                <a:latin typeface="Arial"/>
                <a:ea typeface="Arial"/>
                <a:cs typeface="Arial"/>
              </a:defRPr>
            </a:pPr>
            <a:r>
              <a:rPr sz="1725" b="0">
                <a:solidFill>
                  <a:srgbClr val="526D6C"/>
                </a:solidFill>
                <a:latin typeface="Arial"/>
                <a:ea typeface="Arial"/>
                <a:cs typeface="Arial"/>
              </a:rPr>
              <a:t>Records enter through the API. Rules compute the journey. The interface presents the worklist.</a:t>
            </a:r>
          </a:p>
        </p:txBody>
      </p:sp>
    </p:spTree>
    <p:extLst>
      <p:ext uri="{BB962C8B-B14F-4D97-AF65-F5344CB8AC3E}">
        <p14:creationId xmlns:p14="http://schemas.microsoft.com/office/powerpoint/2010/main" val="129098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2" name="A prototype foundation and a focused build plan">
            <a:extLst>
              <a:ext uri="{FF2B5EF4-FFF2-40B4-BE49-F238E27FC236}">
                <a16:creationId xmlns:a16="http://schemas.microsoft.com/office/drawing/2014/main" id="{45BDC3D6-6FC1-4069-A7EB-069816852F12}"/>
              </a:ext>
            </a:extLst>
          </p:cNvPr>
          <p:cNvSpPr>
            <a:spLocks noGrp="1"/>
          </p:cNvSpPr>
          <p:nvPr/>
        </p:nvSpPr>
        <p:spPr>
          <a:xfrm>
            <a:off x="685800" y="552450"/>
            <a:ext cx="10820400" cy="1009650"/>
          </a:xfrm>
          <a:prstGeom prst="rect">
            <a:avLst/>
          </a:prstGeom>
          <a:noFill/>
          <a:ln w="0">
            <a:noFill/>
          </a:ln>
        </p:spPr>
        <p:txBody>
          <a:bodyPr lIns="0" tIns="0" rIns="0" bIns="0" anchor="t">
            <a:noAutofit/>
          </a:bodyPr>
          <a:lstStyle/>
          <a:p>
            <a:pPr>
              <a:defRPr sz="3600" b="1">
                <a:solidFill>
                  <a:srgbClr val="143D40"/>
                </a:solidFill>
                <a:latin typeface="Arial"/>
                <a:ea typeface="Arial"/>
                <a:cs typeface="Arial"/>
              </a:defRPr>
            </a:pPr>
            <a:r>
              <a:rPr sz="3600" b="1">
                <a:solidFill>
                  <a:srgbClr val="143D40"/>
                </a:solidFill>
                <a:latin typeface="Arial"/>
                <a:ea typeface="Arial"/>
                <a:cs typeface="Arial"/>
              </a:rPr>
              <a:t>A prototype foundation and a focused build plan</a:t>
            </a:r>
          </a:p>
        </p:txBody>
      </p:sp>
      <p:sp>
        <p:nvSpPr>
          <p:cNvPr id="2" name="07">
            <a:extLst>
              <a:ext uri="{FF2B5EF4-FFF2-40B4-BE49-F238E27FC236}">
                <a16:creationId xmlns:a16="http://schemas.microsoft.com/office/drawing/2014/main" id="{3B7158E2-5765-424E-B2FF-58BC6B1E9C68}"/>
              </a:ext>
            </a:extLst>
          </p:cNvPr>
          <p:cNvSpPr>
            <a:spLocks noGrp="1"/>
          </p:cNvSpPr>
          <p:nvPr/>
        </p:nvSpPr>
        <p:spPr>
          <a:xfrm>
            <a:off x="10972800" y="6305550"/>
            <a:ext cx="523875" cy="266700"/>
          </a:xfrm>
          <a:prstGeom prst="rect">
            <a:avLst/>
          </a:prstGeom>
          <a:noFill/>
          <a:ln w="0">
            <a:noFill/>
          </a:ln>
        </p:spPr>
        <p:txBody>
          <a:bodyPr lIns="0" tIns="0" rIns="0" bIns="0" anchor="t">
            <a:noAutofit/>
          </a:bodyPr>
          <a:lstStyle/>
          <a:p>
            <a:pPr>
              <a:defRPr sz="1350" b="0">
                <a:solidFill>
                  <a:srgbClr val="526D6C"/>
                </a:solidFill>
                <a:latin typeface="Arial"/>
                <a:ea typeface="Arial"/>
                <a:cs typeface="Arial"/>
              </a:defRPr>
            </a:pPr>
            <a:r>
              <a:rPr sz="1350" b="0">
                <a:solidFill>
                  <a:srgbClr val="526D6C"/>
                </a:solidFill>
                <a:latin typeface="Arial"/>
                <a:ea typeface="Arial"/>
                <a:cs typeface="Arial"/>
              </a:rPr>
              <a:t>07</a:t>
            </a:r>
          </a:p>
        </p:txBody>
      </p:sp>
      <p:sp>
        <p:nvSpPr>
          <p:cNvPr id="3" name="Prototype foundation">
            <a:extLst>
              <a:ext uri="{FF2B5EF4-FFF2-40B4-BE49-F238E27FC236}">
                <a16:creationId xmlns:a16="http://schemas.microsoft.com/office/drawing/2014/main" id="{0498448E-86C0-4DDF-A4CE-0924AF071A5F}"/>
              </a:ext>
            </a:extLst>
          </p:cNvPr>
          <p:cNvSpPr>
            <a:spLocks noGrp="1"/>
          </p:cNvSpPr>
          <p:nvPr/>
        </p:nvSpPr>
        <p:spPr>
          <a:xfrm>
            <a:off x="685800" y="1924050"/>
            <a:ext cx="4810125" cy="457200"/>
          </a:xfrm>
          <a:prstGeom prst="rect">
            <a:avLst/>
          </a:prstGeom>
          <a:noFill/>
          <a:ln w="0">
            <a:noFill/>
          </a:ln>
        </p:spPr>
        <p:txBody>
          <a:bodyPr lIns="0" tIns="0" rIns="0" bIns="0" anchor="t">
            <a:noAutofit/>
          </a:bodyPr>
          <a:lstStyle/>
          <a:p>
            <a:pPr>
              <a:defRPr sz="2325" b="1">
                <a:solidFill>
                  <a:srgbClr val="1D716A"/>
                </a:solidFill>
                <a:latin typeface="Arial"/>
                <a:ea typeface="Arial"/>
                <a:cs typeface="Arial"/>
              </a:defRPr>
            </a:pPr>
            <a:r>
              <a:rPr sz="2325" b="1" dirty="0">
                <a:solidFill>
                  <a:srgbClr val="1D716A"/>
                </a:solidFill>
                <a:latin typeface="Arial"/>
                <a:ea typeface="Arial"/>
                <a:cs typeface="Arial"/>
              </a:rPr>
              <a:t>Prototype foundation</a:t>
            </a:r>
          </a:p>
        </p:txBody>
      </p:sp>
      <p:sp>
        <p:nvSpPr>
          <p:cNvPr id="4" name="52">
            <a:extLst>
              <a:ext uri="{FF2B5EF4-FFF2-40B4-BE49-F238E27FC236}">
                <a16:creationId xmlns:a16="http://schemas.microsoft.com/office/drawing/2014/main" id="{99109E29-346A-46BD-A956-67E376F20AE4}"/>
              </a:ext>
            </a:extLst>
          </p:cNvPr>
          <p:cNvSpPr>
            <a:spLocks noGrp="1"/>
          </p:cNvSpPr>
          <p:nvPr/>
        </p:nvSpPr>
        <p:spPr>
          <a:xfrm>
            <a:off x="685800" y="2600325"/>
            <a:ext cx="2190750" cy="1095375"/>
          </a:xfrm>
          <a:prstGeom prst="rect">
            <a:avLst/>
          </a:prstGeom>
          <a:noFill/>
          <a:ln w="0">
            <a:noFill/>
          </a:ln>
        </p:spPr>
        <p:txBody>
          <a:bodyPr lIns="0" tIns="0" rIns="0" bIns="0" anchor="t">
            <a:noAutofit/>
          </a:bodyPr>
          <a:lstStyle/>
          <a:p>
            <a:pPr>
              <a:defRPr sz="6600" b="1">
                <a:solidFill>
                  <a:srgbClr val="143D40"/>
                </a:solidFill>
                <a:latin typeface="Arial"/>
                <a:ea typeface="Arial"/>
                <a:cs typeface="Arial"/>
              </a:defRPr>
            </a:pPr>
            <a:r>
              <a:rPr sz="6600" b="1">
                <a:solidFill>
                  <a:srgbClr val="143D40"/>
                </a:solidFill>
                <a:latin typeface="Arial"/>
                <a:ea typeface="Arial"/>
                <a:cs typeface="Arial"/>
              </a:rPr>
              <a:t>52</a:t>
            </a:r>
          </a:p>
        </p:txBody>
      </p:sp>
      <p:sp>
        <p:nvSpPr>
          <p:cNvPr id="5" name="synthetic patient profiles&#10;across nine disease registri">
            <a:extLst>
              <a:ext uri="{FF2B5EF4-FFF2-40B4-BE49-F238E27FC236}">
                <a16:creationId xmlns:a16="http://schemas.microsoft.com/office/drawing/2014/main" id="{E5F2A787-3588-4CD9-9D19-5AD91A4A0AEE}"/>
              </a:ext>
            </a:extLst>
          </p:cNvPr>
          <p:cNvSpPr>
            <a:spLocks noGrp="1"/>
          </p:cNvSpPr>
          <p:nvPr/>
        </p:nvSpPr>
        <p:spPr>
          <a:xfrm>
            <a:off x="685800" y="3819525"/>
            <a:ext cx="4953000" cy="904875"/>
          </a:xfrm>
          <a:prstGeom prst="rect">
            <a:avLst/>
          </a:prstGeom>
          <a:noFill/>
          <a:ln w="0">
            <a:noFill/>
          </a:ln>
        </p:spPr>
        <p:txBody>
          <a:bodyPr lIns="0" tIns="0" rIns="0" bIns="0" anchor="t">
            <a:noAutofit/>
          </a:bodyPr>
          <a:lstStyle/>
          <a:p>
            <a:pPr>
              <a:defRPr sz="2175" b="0">
                <a:solidFill>
                  <a:srgbClr val="143D40"/>
                </a:solidFill>
                <a:latin typeface="Arial"/>
                <a:ea typeface="Arial"/>
                <a:cs typeface="Arial"/>
              </a:defRPr>
            </a:pPr>
            <a:r>
              <a:rPr sz="2175" b="0" dirty="0">
                <a:solidFill>
                  <a:srgbClr val="143D40"/>
                </a:solidFill>
                <a:latin typeface="Arial"/>
                <a:ea typeface="Arial"/>
                <a:cs typeface="Arial"/>
              </a:rPr>
              <a:t>synthetic patient profiles</a:t>
            </a:r>
          </a:p>
          <a:p>
            <a:pPr>
              <a:defRPr sz="2175" b="0">
                <a:solidFill>
                  <a:srgbClr val="143D40"/>
                </a:solidFill>
                <a:latin typeface="Arial"/>
                <a:ea typeface="Arial"/>
                <a:cs typeface="Arial"/>
              </a:defRPr>
            </a:pPr>
            <a:r>
              <a:rPr sz="2175" b="0" dirty="0">
                <a:solidFill>
                  <a:srgbClr val="143D40"/>
                </a:solidFill>
                <a:latin typeface="Arial"/>
                <a:ea typeface="Arial"/>
                <a:cs typeface="Arial"/>
              </a:rPr>
              <a:t>across nine disease registries</a:t>
            </a:r>
          </a:p>
        </p:txBody>
      </p:sp>
      <p:sp>
        <p:nvSpPr>
          <p:cNvPr id="6" name="Clinical forms, journey logic, reports&#10;and a population">
            <a:extLst>
              <a:ext uri="{FF2B5EF4-FFF2-40B4-BE49-F238E27FC236}">
                <a16:creationId xmlns:a16="http://schemas.microsoft.com/office/drawing/2014/main" id="{A73E92C9-0881-441C-83AA-B66243B1E8C9}"/>
              </a:ext>
            </a:extLst>
          </p:cNvPr>
          <p:cNvSpPr>
            <a:spLocks noGrp="1"/>
          </p:cNvSpPr>
          <p:nvPr/>
        </p:nvSpPr>
        <p:spPr>
          <a:xfrm>
            <a:off x="685800" y="5057775"/>
            <a:ext cx="4905375" cy="838200"/>
          </a:xfrm>
          <a:prstGeom prst="rect">
            <a:avLst/>
          </a:prstGeom>
          <a:noFill/>
          <a:ln w="0">
            <a:noFill/>
          </a:ln>
        </p:spPr>
        <p:txBody>
          <a:bodyPr lIns="0" tIns="0" rIns="0" bIns="0" anchor="t">
            <a:noAutofit/>
          </a:bodyPr>
          <a:lstStyle/>
          <a:p>
            <a:pPr>
              <a:defRPr sz="1950" b="0">
                <a:solidFill>
                  <a:srgbClr val="526D6C"/>
                </a:solidFill>
                <a:latin typeface="Arial"/>
                <a:ea typeface="Arial"/>
                <a:cs typeface="Arial"/>
              </a:defRPr>
            </a:pPr>
            <a:r>
              <a:rPr sz="1950" b="0">
                <a:solidFill>
                  <a:srgbClr val="526D6C"/>
                </a:solidFill>
                <a:latin typeface="Arial"/>
                <a:ea typeface="Arial"/>
                <a:cs typeface="Arial"/>
              </a:rPr>
              <a:t>Clinical forms, journey logic, reports</a:t>
            </a:r>
          </a:p>
          <a:p>
            <a:pPr>
              <a:defRPr sz="1950" b="0">
                <a:solidFill>
                  <a:srgbClr val="526D6C"/>
                </a:solidFill>
                <a:latin typeface="Arial"/>
                <a:ea typeface="Arial"/>
                <a:cs typeface="Arial"/>
              </a:defRPr>
            </a:pPr>
            <a:r>
              <a:rPr sz="1950" b="0">
                <a:solidFill>
                  <a:srgbClr val="526D6C"/>
                </a:solidFill>
                <a:latin typeface="Arial"/>
                <a:ea typeface="Arial"/>
                <a:cs typeface="Arial"/>
              </a:rPr>
              <a:t>and a population care-gap dashboard.</a:t>
            </a:r>
          </a:p>
        </p:txBody>
      </p:sp>
      <p:sp>
        <p:nvSpPr>
          <p:cNvPr id="7" name="Before a clinic pilot">
            <a:extLst>
              <a:ext uri="{FF2B5EF4-FFF2-40B4-BE49-F238E27FC236}">
                <a16:creationId xmlns:a16="http://schemas.microsoft.com/office/drawing/2014/main" id="{2FFD7F22-4D39-416C-AF4A-E1834BA70776}"/>
              </a:ext>
            </a:extLst>
          </p:cNvPr>
          <p:cNvSpPr>
            <a:spLocks noGrp="1"/>
          </p:cNvSpPr>
          <p:nvPr/>
        </p:nvSpPr>
        <p:spPr>
          <a:xfrm>
            <a:off x="6705600" y="1924050"/>
            <a:ext cx="4667250" cy="457200"/>
          </a:xfrm>
          <a:prstGeom prst="rect">
            <a:avLst/>
          </a:prstGeom>
          <a:noFill/>
          <a:ln w="0">
            <a:noFill/>
          </a:ln>
        </p:spPr>
        <p:txBody>
          <a:bodyPr lIns="0" tIns="0" rIns="0" bIns="0" anchor="t">
            <a:noAutofit/>
          </a:bodyPr>
          <a:lstStyle/>
          <a:p>
            <a:pPr>
              <a:defRPr sz="2325" b="1">
                <a:solidFill>
                  <a:srgbClr val="1D716A"/>
                </a:solidFill>
                <a:latin typeface="Arial"/>
                <a:ea typeface="Arial"/>
                <a:cs typeface="Arial"/>
              </a:defRPr>
            </a:pPr>
            <a:r>
              <a:rPr sz="2325" b="1">
                <a:solidFill>
                  <a:srgbClr val="1D716A"/>
                </a:solidFill>
                <a:latin typeface="Arial"/>
                <a:ea typeface="Arial"/>
                <a:cs typeface="Arial"/>
              </a:rPr>
              <a:t>Before a clinic pilot</a:t>
            </a:r>
          </a:p>
        </p:txBody>
      </p:sp>
      <p:sp>
        <p:nvSpPr>
          <p:cNvPr id="8" name="Reliable and protected records">
            <a:extLst>
              <a:ext uri="{FF2B5EF4-FFF2-40B4-BE49-F238E27FC236}">
                <a16:creationId xmlns:a16="http://schemas.microsoft.com/office/drawing/2014/main" id="{E3FF24D8-9AAC-4FA6-A431-DEE6850288B1}"/>
              </a:ext>
            </a:extLst>
          </p:cNvPr>
          <p:cNvSpPr>
            <a:spLocks noGrp="1"/>
          </p:cNvSpPr>
          <p:nvPr/>
        </p:nvSpPr>
        <p:spPr>
          <a:xfrm>
            <a:off x="6705600" y="2733675"/>
            <a:ext cx="4648200" cy="428625"/>
          </a:xfrm>
          <a:prstGeom prst="rect">
            <a:avLst/>
          </a:prstGeom>
          <a:noFill/>
          <a:ln w="0">
            <a:noFill/>
          </a:ln>
        </p:spPr>
        <p:txBody>
          <a:bodyPr lIns="0" tIns="0" rIns="0" bIns="0" anchor="t">
            <a:noAutofit/>
          </a:bodyPr>
          <a:lstStyle/>
          <a:p>
            <a:pPr>
              <a:defRPr sz="2100" b="1">
                <a:solidFill>
                  <a:srgbClr val="143D40"/>
                </a:solidFill>
                <a:latin typeface="Arial"/>
                <a:ea typeface="Arial"/>
                <a:cs typeface="Arial"/>
              </a:defRPr>
            </a:pPr>
            <a:r>
              <a:rPr sz="2100" b="1" dirty="0">
                <a:solidFill>
                  <a:srgbClr val="143D40"/>
                </a:solidFill>
                <a:latin typeface="Arial"/>
                <a:ea typeface="Arial"/>
                <a:cs typeface="Arial"/>
              </a:rPr>
              <a:t>Reliable and protected records</a:t>
            </a:r>
          </a:p>
        </p:txBody>
      </p:sp>
      <p:sp>
        <p:nvSpPr>
          <p:cNvPr id="9" name="Access controls, input validation,&#10;audit history and sa">
            <a:extLst>
              <a:ext uri="{FF2B5EF4-FFF2-40B4-BE49-F238E27FC236}">
                <a16:creationId xmlns:a16="http://schemas.microsoft.com/office/drawing/2014/main" id="{D3074C4E-989D-446B-9C9D-42AABFB1CED4}"/>
              </a:ext>
            </a:extLst>
          </p:cNvPr>
          <p:cNvSpPr>
            <a:spLocks noGrp="1"/>
          </p:cNvSpPr>
          <p:nvPr/>
        </p:nvSpPr>
        <p:spPr>
          <a:xfrm>
            <a:off x="6705600" y="3228975"/>
            <a:ext cx="4648200" cy="781050"/>
          </a:xfrm>
          <a:prstGeom prst="rect">
            <a:avLst/>
          </a:prstGeom>
          <a:noFill/>
          <a:ln w="0">
            <a:noFill/>
          </a:ln>
        </p:spPr>
        <p:txBody>
          <a:bodyPr lIns="0" tIns="0" rIns="0" bIns="0" anchor="t">
            <a:noAutofit/>
          </a:bodyPr>
          <a:lstStyle/>
          <a:p>
            <a:pPr>
              <a:defRPr sz="1875" b="0">
                <a:solidFill>
                  <a:srgbClr val="526D6C"/>
                </a:solidFill>
                <a:latin typeface="Arial"/>
                <a:ea typeface="Arial"/>
                <a:cs typeface="Arial"/>
              </a:defRPr>
            </a:pPr>
            <a:r>
              <a:rPr sz="1875" b="0" dirty="0">
                <a:solidFill>
                  <a:srgbClr val="526D6C"/>
                </a:solidFill>
                <a:latin typeface="Arial"/>
                <a:ea typeface="Arial"/>
                <a:cs typeface="Arial"/>
              </a:rPr>
              <a:t>Access controls, input validation,</a:t>
            </a:r>
          </a:p>
          <a:p>
            <a:pPr>
              <a:defRPr sz="1875" b="0">
                <a:solidFill>
                  <a:srgbClr val="526D6C"/>
                </a:solidFill>
                <a:latin typeface="Arial"/>
                <a:ea typeface="Arial"/>
                <a:cs typeface="Arial"/>
              </a:defRPr>
            </a:pPr>
            <a:r>
              <a:rPr sz="1875" b="0" dirty="0">
                <a:solidFill>
                  <a:srgbClr val="526D6C"/>
                </a:solidFill>
                <a:latin typeface="Arial"/>
                <a:ea typeface="Arial"/>
                <a:cs typeface="Arial"/>
              </a:rPr>
              <a:t>audit history and safe persistence.</a:t>
            </a:r>
          </a:p>
        </p:txBody>
      </p:sp>
      <p:sp>
        <p:nvSpPr>
          <p:cNvPr id="10" name="Workflow validation with care teams">
            <a:extLst>
              <a:ext uri="{FF2B5EF4-FFF2-40B4-BE49-F238E27FC236}">
                <a16:creationId xmlns:a16="http://schemas.microsoft.com/office/drawing/2014/main" id="{78A71A73-EC9B-4D05-A632-8A81D2DF2175}"/>
              </a:ext>
            </a:extLst>
          </p:cNvPr>
          <p:cNvSpPr>
            <a:spLocks noGrp="1"/>
          </p:cNvSpPr>
          <p:nvPr/>
        </p:nvSpPr>
        <p:spPr>
          <a:xfrm>
            <a:off x="6705600" y="4343400"/>
            <a:ext cx="4648200" cy="723900"/>
          </a:xfrm>
          <a:prstGeom prst="rect">
            <a:avLst/>
          </a:prstGeom>
          <a:noFill/>
          <a:ln w="0">
            <a:noFill/>
          </a:ln>
        </p:spPr>
        <p:txBody>
          <a:bodyPr lIns="0" tIns="0" rIns="0" bIns="0" anchor="t">
            <a:noAutofit/>
          </a:bodyPr>
          <a:lstStyle/>
          <a:p>
            <a:pPr>
              <a:defRPr sz="2100" b="1">
                <a:solidFill>
                  <a:srgbClr val="143D40"/>
                </a:solidFill>
                <a:latin typeface="Arial"/>
                <a:ea typeface="Arial"/>
                <a:cs typeface="Arial"/>
              </a:defRPr>
            </a:pPr>
            <a:r>
              <a:rPr sz="2100" b="1" dirty="0">
                <a:solidFill>
                  <a:srgbClr val="143D40"/>
                </a:solidFill>
                <a:latin typeface="Arial"/>
                <a:ea typeface="Arial"/>
                <a:cs typeface="Arial"/>
              </a:rPr>
              <a:t>Workflow validation with care teams</a:t>
            </a:r>
          </a:p>
        </p:txBody>
      </p:sp>
      <p:sp>
        <p:nvSpPr>
          <p:cNvPr id="11" name="Review alert rules, task ownership&#10;and escalation needs">
            <a:extLst>
              <a:ext uri="{FF2B5EF4-FFF2-40B4-BE49-F238E27FC236}">
                <a16:creationId xmlns:a16="http://schemas.microsoft.com/office/drawing/2014/main" id="{53A5DB7F-69B6-4153-A3BC-6AA26F95305B}"/>
              </a:ext>
            </a:extLst>
          </p:cNvPr>
          <p:cNvSpPr>
            <a:spLocks noGrp="1"/>
          </p:cNvSpPr>
          <p:nvPr/>
        </p:nvSpPr>
        <p:spPr>
          <a:xfrm>
            <a:off x="6705600" y="5143500"/>
            <a:ext cx="4648200" cy="809625"/>
          </a:xfrm>
          <a:prstGeom prst="rect">
            <a:avLst/>
          </a:prstGeom>
          <a:noFill/>
          <a:ln w="0">
            <a:noFill/>
          </a:ln>
        </p:spPr>
        <p:txBody>
          <a:bodyPr lIns="0" tIns="0" rIns="0" bIns="0" anchor="t">
            <a:noAutofit/>
          </a:bodyPr>
          <a:lstStyle/>
          <a:p>
            <a:pPr>
              <a:defRPr sz="1875" b="0">
                <a:solidFill>
                  <a:srgbClr val="526D6C"/>
                </a:solidFill>
                <a:latin typeface="Arial"/>
                <a:ea typeface="Arial"/>
                <a:cs typeface="Arial"/>
              </a:defRPr>
            </a:pPr>
            <a:r>
              <a:rPr sz="1875" b="0">
                <a:solidFill>
                  <a:srgbClr val="526D6C"/>
                </a:solidFill>
                <a:latin typeface="Arial"/>
                <a:ea typeface="Arial"/>
                <a:cs typeface="Arial"/>
              </a:rPr>
              <a:t>Review alert rules, task ownership</a:t>
            </a:r>
          </a:p>
          <a:p>
            <a:pPr>
              <a:defRPr sz="1875" b="0">
                <a:solidFill>
                  <a:srgbClr val="526D6C"/>
                </a:solidFill>
                <a:latin typeface="Arial"/>
                <a:ea typeface="Arial"/>
                <a:cs typeface="Arial"/>
              </a:defRPr>
            </a:pPr>
            <a:r>
              <a:rPr sz="1875" b="0">
                <a:solidFill>
                  <a:srgbClr val="526D6C"/>
                </a:solidFill>
                <a:latin typeface="Arial"/>
                <a:ea typeface="Arial"/>
                <a:cs typeface="Arial"/>
              </a:rPr>
              <a:t>and escalation needs with users.</a:t>
            </a:r>
          </a:p>
        </p:txBody>
      </p:sp>
    </p:spTree>
    <p:extLst>
      <p:ext uri="{BB962C8B-B14F-4D97-AF65-F5344CB8AC3E}">
        <p14:creationId xmlns:p14="http://schemas.microsoft.com/office/powerpoint/2010/main" val="173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3D40"/>
        </a:solidFill>
        <a:effectLst/>
      </p:bgPr>
    </p:bg>
    <p:spTree>
      <p:nvGrpSpPr>
        <p:cNvPr id="1" name=""/>
        <p:cNvGrpSpPr/>
        <p:nvPr/>
      </p:nvGrpSpPr>
      <p:grpSpPr>
        <a:xfrm>
          <a:off x="0" y="0"/>
          <a:ext cx="0" cy="0"/>
          <a:chOff x="0" y="0"/>
          <a:chExt cx="0" cy="0"/>
        </a:xfrm>
      </p:grpSpPr>
      <p:sp>
        <p:nvSpPr>
          <p:cNvPr id="9" name="A pilot that measures follow-through">
            <a:extLst>
              <a:ext uri="{FF2B5EF4-FFF2-40B4-BE49-F238E27FC236}">
                <a16:creationId xmlns:a16="http://schemas.microsoft.com/office/drawing/2014/main" id="{FBB912C8-5124-4797-94F7-EA5566FDF3DA}"/>
              </a:ext>
            </a:extLst>
          </p:cNvPr>
          <p:cNvSpPr>
            <a:spLocks noGrp="1"/>
          </p:cNvSpPr>
          <p:nvPr/>
        </p:nvSpPr>
        <p:spPr>
          <a:xfrm>
            <a:off x="685800" y="552450"/>
            <a:ext cx="10820400" cy="1009650"/>
          </a:xfrm>
          <a:prstGeom prst="rect">
            <a:avLst/>
          </a:prstGeom>
          <a:noFill/>
          <a:ln w="0">
            <a:noFill/>
          </a:ln>
        </p:spPr>
        <p:txBody>
          <a:bodyPr lIns="0" tIns="0" rIns="0" bIns="0" anchor="t">
            <a:noAutofit/>
          </a:bodyPr>
          <a:lstStyle/>
          <a:p>
            <a:pPr>
              <a:defRPr sz="3600" b="1">
                <a:solidFill>
                  <a:srgbClr val="F7F5EF"/>
                </a:solidFill>
                <a:latin typeface="Arial"/>
                <a:ea typeface="Arial"/>
                <a:cs typeface="Arial"/>
              </a:defRPr>
            </a:pPr>
            <a:r>
              <a:rPr sz="3600" b="1" dirty="0">
                <a:solidFill>
                  <a:srgbClr val="F7F5EF"/>
                </a:solidFill>
                <a:latin typeface="Arial"/>
                <a:ea typeface="Arial"/>
                <a:cs typeface="Arial"/>
              </a:rPr>
              <a:t>A pilot that measures follow-through</a:t>
            </a:r>
          </a:p>
        </p:txBody>
      </p:sp>
      <p:sp>
        <p:nvSpPr>
          <p:cNvPr id="2" name="08">
            <a:extLst>
              <a:ext uri="{FF2B5EF4-FFF2-40B4-BE49-F238E27FC236}">
                <a16:creationId xmlns:a16="http://schemas.microsoft.com/office/drawing/2014/main" id="{FB66BCDC-9EF0-48E4-988D-31EB58995959}"/>
              </a:ext>
            </a:extLst>
          </p:cNvPr>
          <p:cNvSpPr>
            <a:spLocks noGrp="1"/>
          </p:cNvSpPr>
          <p:nvPr/>
        </p:nvSpPr>
        <p:spPr>
          <a:xfrm>
            <a:off x="10972800" y="6305550"/>
            <a:ext cx="523875" cy="266700"/>
          </a:xfrm>
          <a:prstGeom prst="rect">
            <a:avLst/>
          </a:prstGeom>
          <a:noFill/>
          <a:ln w="0">
            <a:noFill/>
          </a:ln>
        </p:spPr>
        <p:txBody>
          <a:bodyPr lIns="0" tIns="0" rIns="0" bIns="0" anchor="t">
            <a:noAutofit/>
          </a:bodyPr>
          <a:lstStyle/>
          <a:p>
            <a:pPr>
              <a:defRPr sz="1350" b="0">
                <a:solidFill>
                  <a:srgbClr val="BCE2CB"/>
                </a:solidFill>
                <a:latin typeface="Arial"/>
                <a:ea typeface="Arial"/>
                <a:cs typeface="Arial"/>
              </a:defRPr>
            </a:pPr>
            <a:r>
              <a:rPr sz="1350" b="0">
                <a:solidFill>
                  <a:srgbClr val="BCE2CB"/>
                </a:solidFill>
                <a:latin typeface="Arial"/>
                <a:ea typeface="Arial"/>
                <a:cs typeface="Arial"/>
              </a:rPr>
              <a:t>08</a:t>
            </a:r>
          </a:p>
        </p:txBody>
      </p:sp>
      <p:sp>
        <p:nvSpPr>
          <p:cNvPr id="3" name="Proposed scope">
            <a:extLst>
              <a:ext uri="{FF2B5EF4-FFF2-40B4-BE49-F238E27FC236}">
                <a16:creationId xmlns:a16="http://schemas.microsoft.com/office/drawing/2014/main" id="{AAB7046C-E11B-4CFB-AC65-606B04B4B4BF}"/>
              </a:ext>
            </a:extLst>
          </p:cNvPr>
          <p:cNvSpPr>
            <a:spLocks noGrp="1"/>
          </p:cNvSpPr>
          <p:nvPr/>
        </p:nvSpPr>
        <p:spPr>
          <a:xfrm>
            <a:off x="685800" y="1876425"/>
            <a:ext cx="4667250" cy="428625"/>
          </a:xfrm>
          <a:prstGeom prst="rect">
            <a:avLst/>
          </a:prstGeom>
          <a:noFill/>
          <a:ln w="0">
            <a:noFill/>
          </a:ln>
        </p:spPr>
        <p:txBody>
          <a:bodyPr lIns="0" tIns="0" rIns="0" bIns="0" anchor="t">
            <a:noAutofit/>
          </a:bodyPr>
          <a:lstStyle/>
          <a:p>
            <a:pPr>
              <a:defRPr sz="2100" b="1">
                <a:solidFill>
                  <a:srgbClr val="BCE2CB"/>
                </a:solidFill>
                <a:latin typeface="Arial"/>
                <a:ea typeface="Arial"/>
                <a:cs typeface="Arial"/>
              </a:defRPr>
            </a:pPr>
            <a:r>
              <a:rPr sz="2100" b="1">
                <a:solidFill>
                  <a:srgbClr val="BCE2CB"/>
                </a:solidFill>
                <a:latin typeface="Arial"/>
                <a:ea typeface="Arial"/>
                <a:cs typeface="Arial"/>
              </a:rPr>
              <a:t>Proposed scope</a:t>
            </a:r>
          </a:p>
        </p:txBody>
      </p:sp>
      <p:sp>
        <p:nvSpPr>
          <p:cNvPr id="4" name="One clinic.&#10;One biopsy-to-referral pathway.">
            <a:extLst>
              <a:ext uri="{FF2B5EF4-FFF2-40B4-BE49-F238E27FC236}">
                <a16:creationId xmlns:a16="http://schemas.microsoft.com/office/drawing/2014/main" id="{7DCE8179-35FF-4EFF-9C76-AD7A0B1B5D18}"/>
              </a:ext>
            </a:extLst>
          </p:cNvPr>
          <p:cNvSpPr>
            <a:spLocks noGrp="1"/>
          </p:cNvSpPr>
          <p:nvPr/>
        </p:nvSpPr>
        <p:spPr>
          <a:xfrm>
            <a:off x="685800" y="2600325"/>
            <a:ext cx="5381625" cy="1371600"/>
          </a:xfrm>
          <a:prstGeom prst="rect">
            <a:avLst/>
          </a:prstGeom>
          <a:noFill/>
          <a:ln w="0">
            <a:noFill/>
          </a:ln>
        </p:spPr>
        <p:txBody>
          <a:bodyPr lIns="0" tIns="0" rIns="0" bIns="0" anchor="t">
            <a:noAutofit/>
          </a:bodyPr>
          <a:lstStyle/>
          <a:p>
            <a:pPr>
              <a:defRPr sz="2925" b="1">
                <a:solidFill>
                  <a:srgbClr val="F7F5EF"/>
                </a:solidFill>
                <a:latin typeface="Arial"/>
                <a:ea typeface="Arial"/>
                <a:cs typeface="Arial"/>
              </a:defRPr>
            </a:pPr>
            <a:r>
              <a:rPr sz="2925" b="1" dirty="0">
                <a:solidFill>
                  <a:srgbClr val="F7F5EF"/>
                </a:solidFill>
                <a:latin typeface="Arial"/>
                <a:ea typeface="Arial"/>
                <a:cs typeface="Arial"/>
              </a:rPr>
              <a:t>One clinic.</a:t>
            </a:r>
          </a:p>
          <a:p>
            <a:pPr>
              <a:defRPr sz="2925" b="1">
                <a:solidFill>
                  <a:srgbClr val="F7F5EF"/>
                </a:solidFill>
                <a:latin typeface="Arial"/>
                <a:ea typeface="Arial"/>
                <a:cs typeface="Arial"/>
              </a:defRPr>
            </a:pPr>
            <a:r>
              <a:rPr sz="2925" b="1" dirty="0">
                <a:solidFill>
                  <a:srgbClr val="F7F5EF"/>
                </a:solidFill>
                <a:latin typeface="Arial"/>
                <a:ea typeface="Arial"/>
                <a:cs typeface="Arial"/>
              </a:rPr>
              <a:t>One biopsy-to-referral pathway.</a:t>
            </a:r>
          </a:p>
        </p:txBody>
      </p:sp>
      <p:sp>
        <p:nvSpPr>
          <p:cNvPr id="5" name="Establish a baseline, run a supervised&#10;pilot and review">
            <a:extLst>
              <a:ext uri="{FF2B5EF4-FFF2-40B4-BE49-F238E27FC236}">
                <a16:creationId xmlns:a16="http://schemas.microsoft.com/office/drawing/2014/main" id="{0BB0A8F1-8D55-4676-8ADB-EDB76EFABEBA}"/>
              </a:ext>
            </a:extLst>
          </p:cNvPr>
          <p:cNvSpPr>
            <a:spLocks noGrp="1"/>
          </p:cNvSpPr>
          <p:nvPr/>
        </p:nvSpPr>
        <p:spPr>
          <a:xfrm>
            <a:off x="685800" y="4314825"/>
            <a:ext cx="5286375" cy="1057275"/>
          </a:xfrm>
          <a:prstGeom prst="rect">
            <a:avLst/>
          </a:prstGeom>
          <a:noFill/>
          <a:ln w="0">
            <a:noFill/>
          </a:ln>
        </p:spPr>
        <p:txBody>
          <a:bodyPr lIns="0" tIns="0" rIns="0" bIns="0" anchor="t">
            <a:noAutofit/>
          </a:bodyPr>
          <a:lstStyle/>
          <a:p>
            <a:pPr>
              <a:defRPr sz="2025" b="0">
                <a:solidFill>
                  <a:srgbClr val="F7F5EF"/>
                </a:solidFill>
                <a:latin typeface="Arial"/>
                <a:ea typeface="Arial"/>
                <a:cs typeface="Arial"/>
              </a:defRPr>
            </a:pPr>
            <a:r>
              <a:rPr sz="2025" b="0">
                <a:solidFill>
                  <a:srgbClr val="F7F5EF"/>
                </a:solidFill>
                <a:latin typeface="Arial"/>
                <a:ea typeface="Arial"/>
                <a:cs typeface="Arial"/>
              </a:rPr>
              <a:t>Establish a baseline, run a supervised</a:t>
            </a:r>
          </a:p>
          <a:p>
            <a:pPr>
              <a:defRPr sz="2025" b="0">
                <a:solidFill>
                  <a:srgbClr val="F7F5EF"/>
                </a:solidFill>
                <a:latin typeface="Arial"/>
                <a:ea typeface="Arial"/>
                <a:cs typeface="Arial"/>
              </a:defRPr>
            </a:pPr>
            <a:r>
              <a:rPr sz="2025" b="0">
                <a:solidFill>
                  <a:srgbClr val="F7F5EF"/>
                </a:solidFill>
                <a:latin typeface="Arial"/>
                <a:ea typeface="Arial"/>
                <a:cs typeface="Arial"/>
              </a:rPr>
              <a:t>pilot and review results with the care team.</a:t>
            </a:r>
          </a:p>
        </p:txBody>
      </p:sp>
      <p:sp>
        <p:nvSpPr>
          <p:cNvPr id="6" name="What we would measure">
            <a:extLst>
              <a:ext uri="{FF2B5EF4-FFF2-40B4-BE49-F238E27FC236}">
                <a16:creationId xmlns:a16="http://schemas.microsoft.com/office/drawing/2014/main" id="{F3A6FE02-729A-4771-89D1-E739F1B2F71D}"/>
              </a:ext>
            </a:extLst>
          </p:cNvPr>
          <p:cNvSpPr>
            <a:spLocks noGrp="1"/>
          </p:cNvSpPr>
          <p:nvPr/>
        </p:nvSpPr>
        <p:spPr>
          <a:xfrm>
            <a:off x="7048500" y="1876425"/>
            <a:ext cx="4457700" cy="428625"/>
          </a:xfrm>
          <a:prstGeom prst="rect">
            <a:avLst/>
          </a:prstGeom>
          <a:noFill/>
          <a:ln w="0">
            <a:noFill/>
          </a:ln>
        </p:spPr>
        <p:txBody>
          <a:bodyPr lIns="0" tIns="0" rIns="0" bIns="0" anchor="t">
            <a:noAutofit/>
          </a:bodyPr>
          <a:lstStyle/>
          <a:p>
            <a:pPr>
              <a:defRPr sz="2100" b="1">
                <a:solidFill>
                  <a:srgbClr val="BCE2CB"/>
                </a:solidFill>
                <a:latin typeface="Arial"/>
                <a:ea typeface="Arial"/>
                <a:cs typeface="Arial"/>
              </a:defRPr>
            </a:pPr>
            <a:r>
              <a:rPr sz="2100" b="1">
                <a:solidFill>
                  <a:srgbClr val="BCE2CB"/>
                </a:solidFill>
                <a:latin typeface="Arial"/>
                <a:ea typeface="Arial"/>
                <a:cs typeface="Arial"/>
              </a:rPr>
              <a:t>What we would measure</a:t>
            </a:r>
          </a:p>
        </p:txBody>
      </p:sp>
      <p:sp>
        <p:nvSpPr>
          <p:cNvPr id="7" name="Time from alert to staff review&#10;&#10;Overdue follow-ups res">
            <a:extLst>
              <a:ext uri="{FF2B5EF4-FFF2-40B4-BE49-F238E27FC236}">
                <a16:creationId xmlns:a16="http://schemas.microsoft.com/office/drawing/2014/main" id="{E85E66C2-828A-45DA-8A32-5C99F5AEF216}"/>
              </a:ext>
            </a:extLst>
          </p:cNvPr>
          <p:cNvSpPr>
            <a:spLocks noGrp="1"/>
          </p:cNvSpPr>
          <p:nvPr/>
        </p:nvSpPr>
        <p:spPr>
          <a:xfrm>
            <a:off x="7048500" y="2581275"/>
            <a:ext cx="4400550" cy="2771775"/>
          </a:xfrm>
          <a:prstGeom prst="rect">
            <a:avLst/>
          </a:prstGeom>
          <a:noFill/>
          <a:ln w="0">
            <a:noFill/>
          </a:ln>
        </p:spPr>
        <p:txBody>
          <a:bodyPr lIns="0" tIns="0" rIns="0" bIns="0" anchor="t">
            <a:noAutofit/>
          </a:bodyPr>
          <a:lstStyle/>
          <a:p>
            <a:pPr>
              <a:defRPr sz="2025" b="0">
                <a:solidFill>
                  <a:srgbClr val="F7F5EF"/>
                </a:solidFill>
                <a:latin typeface="Arial"/>
                <a:ea typeface="Arial"/>
                <a:cs typeface="Arial"/>
              </a:defRPr>
            </a:pPr>
            <a:r>
              <a:rPr sz="2025" b="0">
                <a:solidFill>
                  <a:srgbClr val="F7F5EF"/>
                </a:solidFill>
                <a:latin typeface="Arial"/>
                <a:ea typeface="Arial"/>
                <a:cs typeface="Arial"/>
              </a:rPr>
              <a:t>Time from alert to staff review</a:t>
            </a:r>
          </a:p>
          <a:p>
            <a:endParaRPr sz="2025" b="0">
              <a:solidFill>
                <a:srgbClr val="F7F5EF"/>
              </a:solidFill>
              <a:latin typeface="Arial"/>
              <a:ea typeface="Arial"/>
              <a:cs typeface="Arial"/>
            </a:endParaRPr>
          </a:p>
          <a:p>
            <a:pPr>
              <a:defRPr sz="2025" b="0">
                <a:solidFill>
                  <a:srgbClr val="F7F5EF"/>
                </a:solidFill>
                <a:latin typeface="Arial"/>
                <a:ea typeface="Arial"/>
                <a:cs typeface="Arial"/>
              </a:defRPr>
            </a:pPr>
            <a:r>
              <a:rPr sz="2025" b="0">
                <a:solidFill>
                  <a:srgbClr val="F7F5EF"/>
                </a:solidFill>
                <a:latin typeface="Arial"/>
                <a:ea typeface="Arial"/>
                <a:cs typeface="Arial"/>
              </a:rPr>
              <a:t>Overdue follow-ups resolved</a:t>
            </a:r>
          </a:p>
          <a:p>
            <a:endParaRPr sz="2025" b="0">
              <a:solidFill>
                <a:srgbClr val="F7F5EF"/>
              </a:solidFill>
              <a:latin typeface="Arial"/>
              <a:ea typeface="Arial"/>
              <a:cs typeface="Arial"/>
            </a:endParaRPr>
          </a:p>
          <a:p>
            <a:pPr>
              <a:defRPr sz="2025" b="0">
                <a:solidFill>
                  <a:srgbClr val="F7F5EF"/>
                </a:solidFill>
                <a:latin typeface="Arial"/>
                <a:ea typeface="Arial"/>
                <a:cs typeface="Arial"/>
              </a:defRPr>
            </a:pPr>
            <a:r>
              <a:rPr sz="2025" b="0">
                <a:solidFill>
                  <a:srgbClr val="F7F5EF"/>
                </a:solidFill>
                <a:latin typeface="Arial"/>
                <a:ea typeface="Arial"/>
                <a:cs typeface="Arial"/>
              </a:rPr>
              <a:t>Referrals completed</a:t>
            </a:r>
          </a:p>
          <a:p>
            <a:endParaRPr sz="2025" b="0">
              <a:solidFill>
                <a:srgbClr val="F7F5EF"/>
              </a:solidFill>
              <a:latin typeface="Arial"/>
              <a:ea typeface="Arial"/>
              <a:cs typeface="Arial"/>
            </a:endParaRPr>
          </a:p>
          <a:p>
            <a:pPr>
              <a:defRPr sz="2025" b="0">
                <a:solidFill>
                  <a:srgbClr val="F7F5EF"/>
                </a:solidFill>
                <a:latin typeface="Arial"/>
                <a:ea typeface="Arial"/>
                <a:cs typeface="Arial"/>
              </a:defRPr>
            </a:pPr>
            <a:r>
              <a:rPr sz="2025" b="0">
                <a:solidFill>
                  <a:srgbClr val="F7F5EF"/>
                </a:solidFill>
                <a:latin typeface="Arial"/>
                <a:ea typeface="Arial"/>
                <a:cs typeface="Arial"/>
              </a:rPr>
              <a:t>Staff time spent preparing worklists</a:t>
            </a:r>
          </a:p>
        </p:txBody>
      </p:sp>
      <p:sp>
        <p:nvSpPr>
          <p:cNvPr id="8" name="We seek a clinical workflow partner to help test and re">
            <a:extLst>
              <a:ext uri="{FF2B5EF4-FFF2-40B4-BE49-F238E27FC236}">
                <a16:creationId xmlns:a16="http://schemas.microsoft.com/office/drawing/2014/main" id="{F43358FD-8C3D-4A0D-850E-83BA4E6B6795}"/>
              </a:ext>
            </a:extLst>
          </p:cNvPr>
          <p:cNvSpPr>
            <a:spLocks noGrp="1"/>
          </p:cNvSpPr>
          <p:nvPr/>
        </p:nvSpPr>
        <p:spPr>
          <a:xfrm>
            <a:off x="685800" y="5886450"/>
            <a:ext cx="10144125" cy="533400"/>
          </a:xfrm>
          <a:prstGeom prst="rect">
            <a:avLst/>
          </a:prstGeom>
          <a:noFill/>
          <a:ln w="0">
            <a:noFill/>
          </a:ln>
        </p:spPr>
        <p:txBody>
          <a:bodyPr lIns="0" tIns="0" rIns="0" bIns="0" anchor="t">
            <a:noAutofit/>
          </a:bodyPr>
          <a:lstStyle/>
          <a:p>
            <a:pPr>
              <a:defRPr sz="2025" b="1">
                <a:solidFill>
                  <a:srgbClr val="BCE2CB"/>
                </a:solidFill>
                <a:latin typeface="Arial"/>
                <a:ea typeface="Arial"/>
                <a:cs typeface="Arial"/>
              </a:defRPr>
            </a:pPr>
            <a:r>
              <a:rPr sz="2025" b="1">
                <a:solidFill>
                  <a:srgbClr val="BCE2CB"/>
                </a:solidFill>
                <a:latin typeface="Arial"/>
                <a:ea typeface="Arial"/>
                <a:cs typeface="Arial"/>
              </a:rPr>
              <a:t>We seek a clinical workflow partner to help test and refine the approach.</a:t>
            </a:r>
          </a:p>
        </p:txBody>
      </p:sp>
    </p:spTree>
    <p:extLst>
      <p:ext uri="{BB962C8B-B14F-4D97-AF65-F5344CB8AC3E}">
        <p14:creationId xmlns:p14="http://schemas.microsoft.com/office/powerpoint/2010/main" val="1153304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a:extLst>
            <a:ext uri="{FF2B5EF4-FFF2-40B4-BE49-F238E27FC236}">
              <a16:creationId xmlns:a16="http://schemas.microsoft.com/office/drawing/2014/main" id="{C11BC6D0-116C-15A2-333C-1F261D86910E}"/>
            </a:ext>
          </a:extLst>
        </p:cNvPr>
        <p:cNvGrpSpPr/>
        <p:nvPr/>
      </p:nvGrpSpPr>
      <p:grpSpPr>
        <a:xfrm>
          <a:off x="0" y="0"/>
          <a:ext cx="0" cy="0"/>
          <a:chOff x="0" y="0"/>
          <a:chExt cx="0" cy="0"/>
        </a:xfrm>
      </p:grpSpPr>
      <p:sp>
        <p:nvSpPr>
          <p:cNvPr id="12" name="A prototype foundation and a focused build plan">
            <a:extLst>
              <a:ext uri="{FF2B5EF4-FFF2-40B4-BE49-F238E27FC236}">
                <a16:creationId xmlns:a16="http://schemas.microsoft.com/office/drawing/2014/main" id="{F31FE8AB-F42A-C8C2-5DCA-0BD0DB5DC4F2}"/>
              </a:ext>
            </a:extLst>
          </p:cNvPr>
          <p:cNvSpPr>
            <a:spLocks noGrp="1"/>
          </p:cNvSpPr>
          <p:nvPr/>
        </p:nvSpPr>
        <p:spPr>
          <a:xfrm>
            <a:off x="685800" y="552450"/>
            <a:ext cx="10820400" cy="1009650"/>
          </a:xfrm>
          <a:prstGeom prst="rect">
            <a:avLst/>
          </a:prstGeom>
          <a:noFill/>
          <a:ln w="0">
            <a:noFill/>
          </a:ln>
        </p:spPr>
        <p:txBody>
          <a:bodyPr lIns="0" tIns="0" rIns="0" bIns="0" anchor="t">
            <a:noAutofit/>
          </a:bodyPr>
          <a:lstStyle/>
          <a:p>
            <a:pPr>
              <a:defRPr sz="3600" b="1">
                <a:solidFill>
                  <a:srgbClr val="143D40"/>
                </a:solidFill>
                <a:latin typeface="Arial"/>
                <a:ea typeface="Arial"/>
                <a:cs typeface="Arial"/>
              </a:defRPr>
            </a:pPr>
            <a:r>
              <a:rPr lang="en-IN" sz="3600" b="1" dirty="0">
                <a:solidFill>
                  <a:srgbClr val="143D40"/>
                </a:solidFill>
                <a:latin typeface="Arial"/>
                <a:ea typeface="Arial"/>
                <a:cs typeface="Arial"/>
              </a:rPr>
              <a:t>Application Screenshots</a:t>
            </a:r>
            <a:endParaRPr sz="3600" b="1" dirty="0">
              <a:solidFill>
                <a:srgbClr val="143D40"/>
              </a:solidFill>
              <a:latin typeface="Arial"/>
              <a:ea typeface="Arial"/>
              <a:cs typeface="Arial"/>
            </a:endParaRPr>
          </a:p>
        </p:txBody>
      </p:sp>
      <p:sp>
        <p:nvSpPr>
          <p:cNvPr id="2" name="07">
            <a:extLst>
              <a:ext uri="{FF2B5EF4-FFF2-40B4-BE49-F238E27FC236}">
                <a16:creationId xmlns:a16="http://schemas.microsoft.com/office/drawing/2014/main" id="{7DDB5781-B3A3-46F1-E922-8BF15A2FAF47}"/>
              </a:ext>
            </a:extLst>
          </p:cNvPr>
          <p:cNvSpPr>
            <a:spLocks noGrp="1"/>
          </p:cNvSpPr>
          <p:nvPr/>
        </p:nvSpPr>
        <p:spPr>
          <a:xfrm>
            <a:off x="10972800" y="6305550"/>
            <a:ext cx="523875" cy="266700"/>
          </a:xfrm>
          <a:prstGeom prst="rect">
            <a:avLst/>
          </a:prstGeom>
          <a:noFill/>
          <a:ln w="0">
            <a:noFill/>
          </a:ln>
        </p:spPr>
        <p:txBody>
          <a:bodyPr lIns="0" tIns="0" rIns="0" bIns="0" anchor="t">
            <a:noAutofit/>
          </a:bodyPr>
          <a:lstStyle/>
          <a:p>
            <a:pPr>
              <a:defRPr sz="1350" b="0">
                <a:solidFill>
                  <a:srgbClr val="526D6C"/>
                </a:solidFill>
                <a:latin typeface="Arial"/>
                <a:ea typeface="Arial"/>
                <a:cs typeface="Arial"/>
              </a:defRPr>
            </a:pPr>
            <a:r>
              <a:rPr sz="1350" b="0">
                <a:solidFill>
                  <a:srgbClr val="526D6C"/>
                </a:solidFill>
                <a:latin typeface="Arial"/>
                <a:ea typeface="Arial"/>
                <a:cs typeface="Arial"/>
              </a:rPr>
              <a:t>07</a:t>
            </a:r>
          </a:p>
        </p:txBody>
      </p:sp>
      <p:pic>
        <p:nvPicPr>
          <p:cNvPr id="14" name="Picture 13">
            <a:extLst>
              <a:ext uri="{FF2B5EF4-FFF2-40B4-BE49-F238E27FC236}">
                <a16:creationId xmlns:a16="http://schemas.microsoft.com/office/drawing/2014/main" id="{1BF6B43D-F139-22C6-ED07-D3E13C601330}"/>
              </a:ext>
            </a:extLst>
          </p:cNvPr>
          <p:cNvPicPr>
            <a:picLocks noChangeAspect="1"/>
          </p:cNvPicPr>
          <p:nvPr/>
        </p:nvPicPr>
        <p:blipFill>
          <a:blip r:embed="rId3"/>
          <a:srcRect l="1" r="700"/>
          <a:stretch>
            <a:fillRect/>
          </a:stretch>
        </p:blipFill>
        <p:spPr>
          <a:xfrm>
            <a:off x="0" y="3198428"/>
            <a:ext cx="6462984" cy="3659572"/>
          </a:xfrm>
          <a:prstGeom prst="rect">
            <a:avLst/>
          </a:prstGeom>
        </p:spPr>
      </p:pic>
      <p:pic>
        <p:nvPicPr>
          <p:cNvPr id="16" name="Picture 15">
            <a:extLst>
              <a:ext uri="{FF2B5EF4-FFF2-40B4-BE49-F238E27FC236}">
                <a16:creationId xmlns:a16="http://schemas.microsoft.com/office/drawing/2014/main" id="{EB89D6E8-35BC-E6DD-4929-1A35B1002199}"/>
              </a:ext>
            </a:extLst>
          </p:cNvPr>
          <p:cNvPicPr>
            <a:picLocks noChangeAspect="1"/>
          </p:cNvPicPr>
          <p:nvPr/>
        </p:nvPicPr>
        <p:blipFill>
          <a:blip r:embed="rId4"/>
          <a:stretch>
            <a:fillRect/>
          </a:stretch>
        </p:blipFill>
        <p:spPr>
          <a:xfrm>
            <a:off x="6406253" y="552450"/>
            <a:ext cx="5785747" cy="3253163"/>
          </a:xfrm>
          <a:prstGeom prst="rect">
            <a:avLst/>
          </a:prstGeom>
        </p:spPr>
      </p:pic>
    </p:spTree>
    <p:extLst>
      <p:ext uri="{BB962C8B-B14F-4D97-AF65-F5344CB8AC3E}">
        <p14:creationId xmlns:p14="http://schemas.microsoft.com/office/powerpoint/2010/main" val="3486515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a:extLst>
            <a:ext uri="{FF2B5EF4-FFF2-40B4-BE49-F238E27FC236}">
              <a16:creationId xmlns:a16="http://schemas.microsoft.com/office/drawing/2014/main" id="{1EB26475-121B-E94F-FC66-BBF7A499F719}"/>
            </a:ext>
          </a:extLst>
        </p:cNvPr>
        <p:cNvGrpSpPr/>
        <p:nvPr/>
      </p:nvGrpSpPr>
      <p:grpSpPr>
        <a:xfrm>
          <a:off x="0" y="0"/>
          <a:ext cx="0" cy="0"/>
          <a:chOff x="0" y="0"/>
          <a:chExt cx="0" cy="0"/>
        </a:xfrm>
      </p:grpSpPr>
      <p:sp>
        <p:nvSpPr>
          <p:cNvPr id="12" name="A prototype foundation and a focused build plan">
            <a:extLst>
              <a:ext uri="{FF2B5EF4-FFF2-40B4-BE49-F238E27FC236}">
                <a16:creationId xmlns:a16="http://schemas.microsoft.com/office/drawing/2014/main" id="{268C1F14-A9A9-70B3-3FA5-59932D4D81C7}"/>
              </a:ext>
            </a:extLst>
          </p:cNvPr>
          <p:cNvSpPr>
            <a:spLocks noGrp="1"/>
          </p:cNvSpPr>
          <p:nvPr/>
        </p:nvSpPr>
        <p:spPr>
          <a:xfrm>
            <a:off x="685800" y="552450"/>
            <a:ext cx="10820400" cy="1009650"/>
          </a:xfrm>
          <a:prstGeom prst="rect">
            <a:avLst/>
          </a:prstGeom>
          <a:noFill/>
          <a:ln w="0">
            <a:noFill/>
          </a:ln>
        </p:spPr>
        <p:txBody>
          <a:bodyPr lIns="0" tIns="0" rIns="0" bIns="0" anchor="t">
            <a:noAutofit/>
          </a:bodyPr>
          <a:lstStyle/>
          <a:p>
            <a:pPr>
              <a:defRPr sz="3600" b="1">
                <a:solidFill>
                  <a:srgbClr val="143D40"/>
                </a:solidFill>
                <a:latin typeface="Arial"/>
                <a:ea typeface="Arial"/>
                <a:cs typeface="Arial"/>
              </a:defRPr>
            </a:pPr>
            <a:r>
              <a:rPr lang="en-IN" sz="3600" b="1" dirty="0">
                <a:solidFill>
                  <a:srgbClr val="143D40"/>
                </a:solidFill>
                <a:latin typeface="Arial"/>
                <a:ea typeface="Arial"/>
                <a:cs typeface="Arial"/>
              </a:rPr>
              <a:t>Application Screenshots</a:t>
            </a:r>
            <a:endParaRPr sz="3600" b="1" dirty="0">
              <a:solidFill>
                <a:srgbClr val="143D40"/>
              </a:solidFill>
              <a:latin typeface="Arial"/>
              <a:ea typeface="Arial"/>
              <a:cs typeface="Arial"/>
            </a:endParaRPr>
          </a:p>
        </p:txBody>
      </p:sp>
      <p:sp>
        <p:nvSpPr>
          <p:cNvPr id="2" name="07">
            <a:extLst>
              <a:ext uri="{FF2B5EF4-FFF2-40B4-BE49-F238E27FC236}">
                <a16:creationId xmlns:a16="http://schemas.microsoft.com/office/drawing/2014/main" id="{D7425F53-2681-A99A-2B0A-6E355C64FF93}"/>
              </a:ext>
            </a:extLst>
          </p:cNvPr>
          <p:cNvSpPr>
            <a:spLocks noGrp="1"/>
          </p:cNvSpPr>
          <p:nvPr/>
        </p:nvSpPr>
        <p:spPr>
          <a:xfrm>
            <a:off x="10972800" y="6305550"/>
            <a:ext cx="523875" cy="266700"/>
          </a:xfrm>
          <a:prstGeom prst="rect">
            <a:avLst/>
          </a:prstGeom>
          <a:noFill/>
          <a:ln w="0">
            <a:noFill/>
          </a:ln>
        </p:spPr>
        <p:txBody>
          <a:bodyPr lIns="0" tIns="0" rIns="0" bIns="0" anchor="t">
            <a:noAutofit/>
          </a:bodyPr>
          <a:lstStyle/>
          <a:p>
            <a:pPr>
              <a:defRPr sz="1350" b="0">
                <a:solidFill>
                  <a:srgbClr val="526D6C"/>
                </a:solidFill>
                <a:latin typeface="Arial"/>
                <a:ea typeface="Arial"/>
                <a:cs typeface="Arial"/>
              </a:defRPr>
            </a:pPr>
            <a:r>
              <a:rPr sz="1350" b="0">
                <a:solidFill>
                  <a:srgbClr val="526D6C"/>
                </a:solidFill>
                <a:latin typeface="Arial"/>
                <a:ea typeface="Arial"/>
                <a:cs typeface="Arial"/>
              </a:rPr>
              <a:t>07</a:t>
            </a:r>
          </a:p>
        </p:txBody>
      </p:sp>
      <p:pic>
        <p:nvPicPr>
          <p:cNvPr id="6" name="Picture 5">
            <a:extLst>
              <a:ext uri="{FF2B5EF4-FFF2-40B4-BE49-F238E27FC236}">
                <a16:creationId xmlns:a16="http://schemas.microsoft.com/office/drawing/2014/main" id="{CF026BC4-3AFF-23A0-6EC9-739BFB9D1F29}"/>
              </a:ext>
            </a:extLst>
          </p:cNvPr>
          <p:cNvPicPr>
            <a:picLocks noChangeAspect="1"/>
          </p:cNvPicPr>
          <p:nvPr/>
        </p:nvPicPr>
        <p:blipFill>
          <a:blip r:embed="rId3"/>
          <a:stretch>
            <a:fillRect/>
          </a:stretch>
        </p:blipFill>
        <p:spPr>
          <a:xfrm>
            <a:off x="0" y="3364992"/>
            <a:ext cx="6209838" cy="3491618"/>
          </a:xfrm>
          <a:prstGeom prst="rect">
            <a:avLst/>
          </a:prstGeom>
        </p:spPr>
      </p:pic>
      <p:pic>
        <p:nvPicPr>
          <p:cNvPr id="8" name="Picture 7">
            <a:extLst>
              <a:ext uri="{FF2B5EF4-FFF2-40B4-BE49-F238E27FC236}">
                <a16:creationId xmlns:a16="http://schemas.microsoft.com/office/drawing/2014/main" id="{CD0AE972-D1DB-5007-1643-7CF1B68F5CA6}"/>
              </a:ext>
            </a:extLst>
          </p:cNvPr>
          <p:cNvPicPr>
            <a:picLocks noChangeAspect="1"/>
          </p:cNvPicPr>
          <p:nvPr/>
        </p:nvPicPr>
        <p:blipFill>
          <a:blip r:embed="rId4"/>
          <a:stretch>
            <a:fillRect/>
          </a:stretch>
        </p:blipFill>
        <p:spPr>
          <a:xfrm>
            <a:off x="6265805" y="285750"/>
            <a:ext cx="5899254" cy="3316986"/>
          </a:xfrm>
          <a:prstGeom prst="rect">
            <a:avLst/>
          </a:prstGeom>
        </p:spPr>
      </p:pic>
    </p:spTree>
    <p:extLst>
      <p:ext uri="{BB962C8B-B14F-4D97-AF65-F5344CB8AC3E}">
        <p14:creationId xmlns:p14="http://schemas.microsoft.com/office/powerpoint/2010/main" val="1002490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a:extLst>
            <a:ext uri="{FF2B5EF4-FFF2-40B4-BE49-F238E27FC236}">
              <a16:creationId xmlns:a16="http://schemas.microsoft.com/office/drawing/2014/main" id="{1DB68C38-98CE-C7D7-5176-EEA96B065711}"/>
            </a:ext>
          </a:extLst>
        </p:cNvPr>
        <p:cNvGrpSpPr/>
        <p:nvPr/>
      </p:nvGrpSpPr>
      <p:grpSpPr>
        <a:xfrm>
          <a:off x="0" y="0"/>
          <a:ext cx="0" cy="0"/>
          <a:chOff x="0" y="0"/>
          <a:chExt cx="0" cy="0"/>
        </a:xfrm>
      </p:grpSpPr>
      <p:sp>
        <p:nvSpPr>
          <p:cNvPr id="12" name="A prototype foundation and a focused build plan">
            <a:extLst>
              <a:ext uri="{FF2B5EF4-FFF2-40B4-BE49-F238E27FC236}">
                <a16:creationId xmlns:a16="http://schemas.microsoft.com/office/drawing/2014/main" id="{C4CABB04-081F-F90E-A5DB-A57529743A5F}"/>
              </a:ext>
            </a:extLst>
          </p:cNvPr>
          <p:cNvSpPr>
            <a:spLocks noGrp="1"/>
          </p:cNvSpPr>
          <p:nvPr/>
        </p:nvSpPr>
        <p:spPr>
          <a:xfrm>
            <a:off x="685800" y="552450"/>
            <a:ext cx="10820400" cy="1009650"/>
          </a:xfrm>
          <a:prstGeom prst="rect">
            <a:avLst/>
          </a:prstGeom>
          <a:noFill/>
          <a:ln w="0">
            <a:noFill/>
          </a:ln>
        </p:spPr>
        <p:txBody>
          <a:bodyPr lIns="0" tIns="0" rIns="0" bIns="0" anchor="t">
            <a:noAutofit/>
          </a:bodyPr>
          <a:lstStyle/>
          <a:p>
            <a:pPr>
              <a:defRPr sz="3600" b="1">
                <a:solidFill>
                  <a:srgbClr val="143D40"/>
                </a:solidFill>
                <a:latin typeface="Arial"/>
                <a:ea typeface="Arial"/>
                <a:cs typeface="Arial"/>
              </a:defRPr>
            </a:pPr>
            <a:r>
              <a:rPr lang="en-IN" sz="8000" b="1" dirty="0">
                <a:solidFill>
                  <a:srgbClr val="143D40"/>
                </a:solidFill>
                <a:latin typeface="Arial"/>
                <a:ea typeface="Arial"/>
                <a:cs typeface="Arial"/>
              </a:rPr>
              <a:t>Thank You</a:t>
            </a:r>
            <a:endParaRPr sz="8000" b="1" dirty="0">
              <a:solidFill>
                <a:srgbClr val="143D40"/>
              </a:solidFill>
              <a:latin typeface="Arial"/>
              <a:ea typeface="Arial"/>
              <a:cs typeface="Arial"/>
            </a:endParaRPr>
          </a:p>
        </p:txBody>
      </p:sp>
      <p:sp>
        <p:nvSpPr>
          <p:cNvPr id="2" name="07">
            <a:extLst>
              <a:ext uri="{FF2B5EF4-FFF2-40B4-BE49-F238E27FC236}">
                <a16:creationId xmlns:a16="http://schemas.microsoft.com/office/drawing/2014/main" id="{1A2CAF08-4C5D-717F-F92C-98A04C284936}"/>
              </a:ext>
            </a:extLst>
          </p:cNvPr>
          <p:cNvSpPr>
            <a:spLocks noGrp="1"/>
          </p:cNvSpPr>
          <p:nvPr/>
        </p:nvSpPr>
        <p:spPr>
          <a:xfrm>
            <a:off x="10972800" y="6305550"/>
            <a:ext cx="523875" cy="266700"/>
          </a:xfrm>
          <a:prstGeom prst="rect">
            <a:avLst/>
          </a:prstGeom>
          <a:noFill/>
          <a:ln w="0">
            <a:noFill/>
          </a:ln>
        </p:spPr>
        <p:txBody>
          <a:bodyPr lIns="0" tIns="0" rIns="0" bIns="0" anchor="t">
            <a:noAutofit/>
          </a:bodyPr>
          <a:lstStyle/>
          <a:p>
            <a:pPr>
              <a:defRPr sz="1350" b="0">
                <a:solidFill>
                  <a:srgbClr val="526D6C"/>
                </a:solidFill>
                <a:latin typeface="Arial"/>
                <a:ea typeface="Arial"/>
                <a:cs typeface="Arial"/>
              </a:defRPr>
            </a:pPr>
            <a:r>
              <a:rPr sz="1350" b="0">
                <a:solidFill>
                  <a:srgbClr val="526D6C"/>
                </a:solidFill>
                <a:latin typeface="Arial"/>
                <a:ea typeface="Arial"/>
                <a:cs typeface="Arial"/>
              </a:rPr>
              <a:t>07</a:t>
            </a:r>
          </a:p>
        </p:txBody>
      </p:sp>
      <p:sp>
        <p:nvSpPr>
          <p:cNvPr id="4" name="52">
            <a:extLst>
              <a:ext uri="{FF2B5EF4-FFF2-40B4-BE49-F238E27FC236}">
                <a16:creationId xmlns:a16="http://schemas.microsoft.com/office/drawing/2014/main" id="{9E22E974-FEEA-FE3D-016A-E04E2596BB4D}"/>
              </a:ext>
            </a:extLst>
          </p:cNvPr>
          <p:cNvSpPr>
            <a:spLocks noGrp="1"/>
          </p:cNvSpPr>
          <p:nvPr/>
        </p:nvSpPr>
        <p:spPr>
          <a:xfrm>
            <a:off x="685800" y="3147346"/>
            <a:ext cx="4343400" cy="1095375"/>
          </a:xfrm>
          <a:prstGeom prst="rect">
            <a:avLst/>
          </a:prstGeom>
          <a:noFill/>
          <a:ln w="0">
            <a:noFill/>
          </a:ln>
        </p:spPr>
        <p:txBody>
          <a:bodyPr lIns="0" tIns="0" rIns="0" bIns="0" anchor="t">
            <a:noAutofit/>
          </a:bodyPr>
          <a:lstStyle/>
          <a:p>
            <a:pPr>
              <a:defRPr sz="6600" b="1">
                <a:solidFill>
                  <a:srgbClr val="143D40"/>
                </a:solidFill>
                <a:latin typeface="Arial"/>
                <a:ea typeface="Arial"/>
                <a:cs typeface="Arial"/>
              </a:defRPr>
            </a:pPr>
            <a:r>
              <a:rPr lang="en-IN" sz="4400" b="1" dirty="0">
                <a:solidFill>
                  <a:srgbClr val="143D40"/>
                </a:solidFill>
                <a:latin typeface="Arial"/>
                <a:ea typeface="Arial"/>
                <a:cs typeface="Arial"/>
              </a:rPr>
              <a:t>YouTube</a:t>
            </a:r>
            <a:endParaRPr sz="6600" b="1" dirty="0">
              <a:solidFill>
                <a:srgbClr val="143D40"/>
              </a:solidFill>
              <a:latin typeface="Arial"/>
              <a:ea typeface="Arial"/>
              <a:cs typeface="Arial"/>
            </a:endParaRPr>
          </a:p>
        </p:txBody>
      </p:sp>
      <p:sp>
        <p:nvSpPr>
          <p:cNvPr id="11" name="Review alert rules, task ownership&#10;and escalation needs">
            <a:extLst>
              <a:ext uri="{FF2B5EF4-FFF2-40B4-BE49-F238E27FC236}">
                <a16:creationId xmlns:a16="http://schemas.microsoft.com/office/drawing/2014/main" id="{485502E9-F10D-8C04-5E9F-043807BB053D}"/>
              </a:ext>
            </a:extLst>
          </p:cNvPr>
          <p:cNvSpPr>
            <a:spLocks noGrp="1"/>
          </p:cNvSpPr>
          <p:nvPr/>
        </p:nvSpPr>
        <p:spPr>
          <a:xfrm>
            <a:off x="3532632" y="4589335"/>
            <a:ext cx="5629656" cy="404813"/>
          </a:xfrm>
          <a:prstGeom prst="rect">
            <a:avLst/>
          </a:prstGeom>
          <a:noFill/>
          <a:ln w="0">
            <a:noFill/>
          </a:ln>
        </p:spPr>
        <p:txBody>
          <a:bodyPr lIns="0" tIns="0" rIns="0" bIns="0" anchor="t">
            <a:noAutofit/>
          </a:bodyPr>
          <a:lstStyle/>
          <a:p>
            <a:pPr>
              <a:defRPr sz="1875" b="0">
                <a:solidFill>
                  <a:srgbClr val="526D6C"/>
                </a:solidFill>
                <a:latin typeface="Arial"/>
                <a:ea typeface="Arial"/>
                <a:cs typeface="Arial"/>
              </a:defRPr>
            </a:pPr>
            <a:r>
              <a:rPr lang="en-IN" sz="2400" dirty="0">
                <a:solidFill>
                  <a:srgbClr val="526D6C"/>
                </a:solidFill>
                <a:latin typeface="Arial"/>
                <a:ea typeface="Arial"/>
                <a:cs typeface="Arial"/>
              </a:rPr>
              <a:t>https://github.com/IntelegixLabs/Arogya</a:t>
            </a:r>
            <a:endParaRPr sz="2400" b="0" dirty="0">
              <a:solidFill>
                <a:srgbClr val="526D6C"/>
              </a:solidFill>
              <a:latin typeface="Arial"/>
              <a:ea typeface="Arial"/>
              <a:cs typeface="Arial"/>
            </a:endParaRPr>
          </a:p>
        </p:txBody>
      </p:sp>
      <p:sp>
        <p:nvSpPr>
          <p:cNvPr id="17" name="52">
            <a:extLst>
              <a:ext uri="{FF2B5EF4-FFF2-40B4-BE49-F238E27FC236}">
                <a16:creationId xmlns:a16="http://schemas.microsoft.com/office/drawing/2014/main" id="{989CDA7A-08A6-35B3-1061-E8A29788F55E}"/>
              </a:ext>
            </a:extLst>
          </p:cNvPr>
          <p:cNvSpPr>
            <a:spLocks noGrp="1"/>
          </p:cNvSpPr>
          <p:nvPr/>
        </p:nvSpPr>
        <p:spPr>
          <a:xfrm>
            <a:off x="685800" y="4359021"/>
            <a:ext cx="4343400" cy="1095375"/>
          </a:xfrm>
          <a:prstGeom prst="rect">
            <a:avLst/>
          </a:prstGeom>
          <a:noFill/>
          <a:ln w="0">
            <a:noFill/>
          </a:ln>
        </p:spPr>
        <p:txBody>
          <a:bodyPr lIns="0" tIns="0" rIns="0" bIns="0" anchor="t">
            <a:noAutofit/>
          </a:bodyPr>
          <a:lstStyle/>
          <a:p>
            <a:pPr>
              <a:defRPr sz="6600" b="1">
                <a:solidFill>
                  <a:srgbClr val="143D40"/>
                </a:solidFill>
                <a:latin typeface="Arial"/>
                <a:ea typeface="Arial"/>
                <a:cs typeface="Arial"/>
              </a:defRPr>
            </a:pPr>
            <a:r>
              <a:rPr lang="en-IN" sz="4400" b="1" dirty="0">
                <a:solidFill>
                  <a:srgbClr val="143D40"/>
                </a:solidFill>
                <a:latin typeface="Arial"/>
                <a:ea typeface="Arial"/>
                <a:cs typeface="Arial"/>
              </a:rPr>
              <a:t>GitHub</a:t>
            </a:r>
            <a:endParaRPr sz="6600" b="1" dirty="0">
              <a:solidFill>
                <a:srgbClr val="143D40"/>
              </a:solidFill>
              <a:latin typeface="Arial"/>
              <a:ea typeface="Arial"/>
              <a:cs typeface="Arial"/>
            </a:endParaRPr>
          </a:p>
        </p:txBody>
      </p:sp>
      <p:sp>
        <p:nvSpPr>
          <p:cNvPr id="19" name="Review alert rules, task ownership&#10;and escalation needs">
            <a:extLst>
              <a:ext uri="{FF2B5EF4-FFF2-40B4-BE49-F238E27FC236}">
                <a16:creationId xmlns:a16="http://schemas.microsoft.com/office/drawing/2014/main" id="{32CDD872-7874-B359-6B8D-5471AFECA94F}"/>
              </a:ext>
            </a:extLst>
          </p:cNvPr>
          <p:cNvSpPr>
            <a:spLocks noGrp="1"/>
          </p:cNvSpPr>
          <p:nvPr/>
        </p:nvSpPr>
        <p:spPr>
          <a:xfrm>
            <a:off x="3532632" y="3319271"/>
            <a:ext cx="6763512" cy="404813"/>
          </a:xfrm>
          <a:prstGeom prst="rect">
            <a:avLst/>
          </a:prstGeom>
          <a:noFill/>
          <a:ln w="0">
            <a:noFill/>
          </a:ln>
        </p:spPr>
        <p:txBody>
          <a:bodyPr lIns="0" tIns="0" rIns="0" bIns="0" anchor="t">
            <a:noAutofit/>
          </a:bodyPr>
          <a:lstStyle/>
          <a:p>
            <a:pPr>
              <a:defRPr sz="1875" b="0">
                <a:solidFill>
                  <a:srgbClr val="526D6C"/>
                </a:solidFill>
                <a:latin typeface="Arial"/>
                <a:ea typeface="Arial"/>
                <a:cs typeface="Arial"/>
              </a:defRPr>
            </a:pPr>
            <a:r>
              <a:rPr lang="en-IN" sz="2400" dirty="0">
                <a:solidFill>
                  <a:srgbClr val="526D6C"/>
                </a:solidFill>
                <a:latin typeface="Arial"/>
                <a:ea typeface="Arial"/>
                <a:cs typeface="Arial"/>
              </a:rPr>
              <a:t>https://www.youtube.com/watch?v=oGJvubxuSfI</a:t>
            </a:r>
            <a:endParaRPr sz="2400" b="0" dirty="0">
              <a:solidFill>
                <a:srgbClr val="526D6C"/>
              </a:solidFill>
              <a:latin typeface="Arial"/>
              <a:ea typeface="Arial"/>
              <a:cs typeface="Arial"/>
            </a:endParaRPr>
          </a:p>
        </p:txBody>
      </p:sp>
    </p:spTree>
    <p:extLst>
      <p:ext uri="{BB962C8B-B14F-4D97-AF65-F5344CB8AC3E}">
        <p14:creationId xmlns:p14="http://schemas.microsoft.com/office/powerpoint/2010/main" val="331335008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1685</Words>
  <Application>Microsoft Office PowerPoint</Application>
  <DocSecurity>0</DocSecurity>
  <PresentationFormat>Widescreen</PresentationFormat>
  <Paragraphs>161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Arnab Das</cp:lastModifiedBy>
  <cp:revision>3</cp:revision>
  <dcterms:created xsi:type="dcterms:W3CDTF">2026-10-03T16:13:53Z</dcterms:created>
  <dcterms:modified xsi:type="dcterms:W3CDTF">2026-10-03T16:35:21Z</dcterms:modified>
</cp:coreProperties>
</file>